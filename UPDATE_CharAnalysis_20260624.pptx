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B02DB9-72E0-483F-A06B-1210728967F7}" v="51" dt="2026-06-24T23:03:37.965"/>
    <p1510:client id="{3DA4FEC4-CBFF-43B4-B4CE-024434E20B07}" v="4" dt="2026-06-25T03:17:16.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9" d="100"/>
          <a:sy n="79" d="100"/>
        </p:scale>
        <p:origin x="920" y="3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guera, Philip" userId="7d9b71f7-bf10-494e-8cb3-2ed11b44844b" providerId="ADAL" clId="{4FFFB3C4-F2D5-49FA-B147-30FDB62F44CA}"/>
    <pc:docChg chg="undo custSel modSld">
      <pc:chgData name="Higuera, Philip" userId="7d9b71f7-bf10-494e-8cb3-2ed11b44844b" providerId="ADAL" clId="{4FFFB3C4-F2D5-49FA-B147-30FDB62F44CA}" dt="2026-06-24T23:03:37.965" v="1778" actId="207"/>
      <pc:docMkLst>
        <pc:docMk/>
      </pc:docMkLst>
      <pc:sldChg chg="modSp mod">
        <pc:chgData name="Higuera, Philip" userId="7d9b71f7-bf10-494e-8cb3-2ed11b44844b" providerId="ADAL" clId="{4FFFB3C4-F2D5-49FA-B147-30FDB62F44CA}" dt="2026-06-24T21:59:34.837" v="1424" actId="20577"/>
        <pc:sldMkLst>
          <pc:docMk/>
          <pc:sldMk cId="0" sldId="256"/>
        </pc:sldMkLst>
        <pc:spChg chg="mod">
          <ac:chgData name="Higuera, Philip" userId="7d9b71f7-bf10-494e-8cb3-2ed11b44844b" providerId="ADAL" clId="{4FFFB3C4-F2D5-49FA-B147-30FDB62F44CA}" dt="2026-06-24T21:20:10.545" v="1101" actId="114"/>
          <ac:spMkLst>
            <pc:docMk/>
            <pc:sldMk cId="0" sldId="256"/>
            <ac:spMk id="3" creationId="{00000000-0000-0000-0000-000000000000}"/>
          </ac:spMkLst>
        </pc:spChg>
        <pc:spChg chg="mod">
          <ac:chgData name="Higuera, Philip" userId="7d9b71f7-bf10-494e-8cb3-2ed11b44844b" providerId="ADAL" clId="{4FFFB3C4-F2D5-49FA-B147-30FDB62F44CA}" dt="2026-06-24T21:59:34.837" v="1424" actId="20577"/>
          <ac:spMkLst>
            <pc:docMk/>
            <pc:sldMk cId="0" sldId="256"/>
            <ac:spMk id="4" creationId="{00000000-0000-0000-0000-000000000000}"/>
          </ac:spMkLst>
        </pc:spChg>
      </pc:sldChg>
      <pc:sldChg chg="modSp mod">
        <pc:chgData name="Higuera, Philip" userId="7d9b71f7-bf10-494e-8cb3-2ed11b44844b" providerId="ADAL" clId="{4FFFB3C4-F2D5-49FA-B147-30FDB62F44CA}" dt="2026-06-24T20:46:56.435" v="80" actId="20577"/>
        <pc:sldMkLst>
          <pc:docMk/>
          <pc:sldMk cId="0" sldId="257"/>
        </pc:sldMkLst>
        <pc:spChg chg="mod">
          <ac:chgData name="Higuera, Philip" userId="7d9b71f7-bf10-494e-8cb3-2ed11b44844b" providerId="ADAL" clId="{4FFFB3C4-F2D5-49FA-B147-30FDB62F44CA}" dt="2026-06-24T20:42:34.493" v="22" actId="20577"/>
          <ac:spMkLst>
            <pc:docMk/>
            <pc:sldMk cId="0" sldId="257"/>
            <ac:spMk id="6" creationId="{00000000-0000-0000-0000-000000000000}"/>
          </ac:spMkLst>
        </pc:spChg>
        <pc:spChg chg="mod">
          <ac:chgData name="Higuera, Philip" userId="7d9b71f7-bf10-494e-8cb3-2ed11b44844b" providerId="ADAL" clId="{4FFFB3C4-F2D5-49FA-B147-30FDB62F44CA}" dt="2026-06-24T20:45:47.929" v="27" actId="20577"/>
          <ac:spMkLst>
            <pc:docMk/>
            <pc:sldMk cId="0" sldId="257"/>
            <ac:spMk id="7" creationId="{00000000-0000-0000-0000-000000000000}"/>
          </ac:spMkLst>
        </pc:spChg>
        <pc:spChg chg="mod">
          <ac:chgData name="Higuera, Philip" userId="7d9b71f7-bf10-494e-8cb3-2ed11b44844b" providerId="ADAL" clId="{4FFFB3C4-F2D5-49FA-B147-30FDB62F44CA}" dt="2026-06-24T20:46:56.435" v="80" actId="20577"/>
          <ac:spMkLst>
            <pc:docMk/>
            <pc:sldMk cId="0" sldId="257"/>
            <ac:spMk id="11" creationId="{00000000-0000-0000-0000-000000000000}"/>
          </ac:spMkLst>
        </pc:spChg>
      </pc:sldChg>
      <pc:sldChg chg="modSp mod">
        <pc:chgData name="Higuera, Philip" userId="7d9b71f7-bf10-494e-8cb3-2ed11b44844b" providerId="ADAL" clId="{4FFFB3C4-F2D5-49FA-B147-30FDB62F44CA}" dt="2026-06-24T22:41:07.963" v="1715" actId="6549"/>
        <pc:sldMkLst>
          <pc:docMk/>
          <pc:sldMk cId="0" sldId="258"/>
        </pc:sldMkLst>
        <pc:spChg chg="mod">
          <ac:chgData name="Higuera, Philip" userId="7d9b71f7-bf10-494e-8cb3-2ed11b44844b" providerId="ADAL" clId="{4FFFB3C4-F2D5-49FA-B147-30FDB62F44CA}" dt="2026-06-24T21:21:22.662" v="1107" actId="20577"/>
          <ac:spMkLst>
            <pc:docMk/>
            <pc:sldMk cId="0" sldId="258"/>
            <ac:spMk id="2" creationId="{00000000-0000-0000-0000-000000000000}"/>
          </ac:spMkLst>
        </pc:spChg>
        <pc:spChg chg="mod">
          <ac:chgData name="Higuera, Philip" userId="7d9b71f7-bf10-494e-8cb3-2ed11b44844b" providerId="ADAL" clId="{4FFFB3C4-F2D5-49FA-B147-30FDB62F44CA}" dt="2026-06-24T22:41:07.963" v="1715" actId="6549"/>
          <ac:spMkLst>
            <pc:docMk/>
            <pc:sldMk cId="0" sldId="258"/>
            <ac:spMk id="4" creationId="{00000000-0000-0000-0000-000000000000}"/>
          </ac:spMkLst>
        </pc:spChg>
        <pc:spChg chg="mod">
          <ac:chgData name="Higuera, Philip" userId="7d9b71f7-bf10-494e-8cb3-2ed11b44844b" providerId="ADAL" clId="{4FFFB3C4-F2D5-49FA-B147-30FDB62F44CA}" dt="2026-06-24T22:37:43.919" v="1708" actId="1036"/>
          <ac:spMkLst>
            <pc:docMk/>
            <pc:sldMk cId="0" sldId="258"/>
            <ac:spMk id="5" creationId="{00000000-0000-0000-0000-000000000000}"/>
          </ac:spMkLst>
        </pc:spChg>
        <pc:spChg chg="mod">
          <ac:chgData name="Higuera, Philip" userId="7d9b71f7-bf10-494e-8cb3-2ed11b44844b" providerId="ADAL" clId="{4FFFB3C4-F2D5-49FA-B147-30FDB62F44CA}" dt="2026-06-24T22:37:43.919" v="1708" actId="1036"/>
          <ac:spMkLst>
            <pc:docMk/>
            <pc:sldMk cId="0" sldId="258"/>
            <ac:spMk id="6" creationId="{00000000-0000-0000-0000-000000000000}"/>
          </ac:spMkLst>
        </pc:spChg>
        <pc:spChg chg="mod">
          <ac:chgData name="Higuera, Philip" userId="7d9b71f7-bf10-494e-8cb3-2ed11b44844b" providerId="ADAL" clId="{4FFFB3C4-F2D5-49FA-B147-30FDB62F44CA}" dt="2026-06-24T22:37:43.919" v="1708" actId="1036"/>
          <ac:spMkLst>
            <pc:docMk/>
            <pc:sldMk cId="0" sldId="258"/>
            <ac:spMk id="7" creationId="{00000000-0000-0000-0000-000000000000}"/>
          </ac:spMkLst>
        </pc:spChg>
      </pc:sldChg>
      <pc:sldChg chg="modSp mod">
        <pc:chgData name="Higuera, Philip" userId="7d9b71f7-bf10-494e-8cb3-2ed11b44844b" providerId="ADAL" clId="{4FFFB3C4-F2D5-49FA-B147-30FDB62F44CA}" dt="2026-06-24T20:50:15.702" v="107" actId="947"/>
        <pc:sldMkLst>
          <pc:docMk/>
          <pc:sldMk cId="0" sldId="259"/>
        </pc:sldMkLst>
        <pc:spChg chg="mod">
          <ac:chgData name="Higuera, Philip" userId="7d9b71f7-bf10-494e-8cb3-2ed11b44844b" providerId="ADAL" clId="{4FFFB3C4-F2D5-49FA-B147-30FDB62F44CA}" dt="2026-06-24T20:49:36.704" v="100" actId="20577"/>
          <ac:spMkLst>
            <pc:docMk/>
            <pc:sldMk cId="0" sldId="259"/>
            <ac:spMk id="8" creationId="{00000000-0000-0000-0000-000000000000}"/>
          </ac:spMkLst>
        </pc:spChg>
        <pc:spChg chg="mod">
          <ac:chgData name="Higuera, Philip" userId="7d9b71f7-bf10-494e-8cb3-2ed11b44844b" providerId="ADAL" clId="{4FFFB3C4-F2D5-49FA-B147-30FDB62F44CA}" dt="2026-06-24T20:49:14.861" v="96" actId="207"/>
          <ac:spMkLst>
            <pc:docMk/>
            <pc:sldMk cId="0" sldId="259"/>
            <ac:spMk id="9" creationId="{00000000-0000-0000-0000-000000000000}"/>
          </ac:spMkLst>
        </pc:spChg>
        <pc:spChg chg="mod">
          <ac:chgData name="Higuera, Philip" userId="7d9b71f7-bf10-494e-8cb3-2ed11b44844b" providerId="ADAL" clId="{4FFFB3C4-F2D5-49FA-B147-30FDB62F44CA}" dt="2026-06-24T20:49:00.753" v="95" actId="207"/>
          <ac:spMkLst>
            <pc:docMk/>
            <pc:sldMk cId="0" sldId="259"/>
            <ac:spMk id="10" creationId="{00000000-0000-0000-0000-000000000000}"/>
          </ac:spMkLst>
        </pc:spChg>
        <pc:spChg chg="mod">
          <ac:chgData name="Higuera, Philip" userId="7d9b71f7-bf10-494e-8cb3-2ed11b44844b" providerId="ADAL" clId="{4FFFB3C4-F2D5-49FA-B147-30FDB62F44CA}" dt="2026-06-24T20:49:40.154" v="102" actId="20577"/>
          <ac:spMkLst>
            <pc:docMk/>
            <pc:sldMk cId="0" sldId="259"/>
            <ac:spMk id="13" creationId="{00000000-0000-0000-0000-000000000000}"/>
          </ac:spMkLst>
        </pc:spChg>
        <pc:spChg chg="mod">
          <ac:chgData name="Higuera, Philip" userId="7d9b71f7-bf10-494e-8cb3-2ed11b44844b" providerId="ADAL" clId="{4FFFB3C4-F2D5-49FA-B147-30FDB62F44CA}" dt="2026-06-24T20:50:15.702" v="107" actId="947"/>
          <ac:spMkLst>
            <pc:docMk/>
            <pc:sldMk cId="0" sldId="259"/>
            <ac:spMk id="18" creationId="{00000000-0000-0000-0000-000000000000}"/>
          </ac:spMkLst>
        </pc:spChg>
        <pc:spChg chg="mod">
          <ac:chgData name="Higuera, Philip" userId="7d9b71f7-bf10-494e-8cb3-2ed11b44844b" providerId="ADAL" clId="{4FFFB3C4-F2D5-49FA-B147-30FDB62F44CA}" dt="2026-06-24T20:49:51.980" v="105" actId="20577"/>
          <ac:spMkLst>
            <pc:docMk/>
            <pc:sldMk cId="0" sldId="259"/>
            <ac:spMk id="23" creationId="{00000000-0000-0000-0000-000000000000}"/>
          </ac:spMkLst>
        </pc:spChg>
      </pc:sldChg>
      <pc:sldChg chg="addSp modSp mod modAnim">
        <pc:chgData name="Higuera, Philip" userId="7d9b71f7-bf10-494e-8cb3-2ed11b44844b" providerId="ADAL" clId="{4FFFB3C4-F2D5-49FA-B147-30FDB62F44CA}" dt="2026-06-24T22:20:58.353" v="1665" actId="114"/>
        <pc:sldMkLst>
          <pc:docMk/>
          <pc:sldMk cId="0" sldId="260"/>
        </pc:sldMkLst>
        <pc:spChg chg="mod">
          <ac:chgData name="Higuera, Philip" userId="7d9b71f7-bf10-494e-8cb3-2ed11b44844b" providerId="ADAL" clId="{4FFFB3C4-F2D5-49FA-B147-30FDB62F44CA}" dt="2026-06-24T21:21:34.089" v="1111" actId="20577"/>
          <ac:spMkLst>
            <pc:docMk/>
            <pc:sldMk cId="0" sldId="260"/>
            <ac:spMk id="2" creationId="{00000000-0000-0000-0000-000000000000}"/>
          </ac:spMkLst>
        </pc:spChg>
        <pc:spChg chg="mod">
          <ac:chgData name="Higuera, Philip" userId="7d9b71f7-bf10-494e-8cb3-2ed11b44844b" providerId="ADAL" clId="{4FFFB3C4-F2D5-49FA-B147-30FDB62F44CA}" dt="2026-06-24T22:20:58.353" v="1665" actId="114"/>
          <ac:spMkLst>
            <pc:docMk/>
            <pc:sldMk cId="0" sldId="260"/>
            <ac:spMk id="4" creationId="{00000000-0000-0000-0000-000000000000}"/>
          </ac:spMkLst>
        </pc:spChg>
        <pc:spChg chg="mod">
          <ac:chgData name="Higuera, Philip" userId="7d9b71f7-bf10-494e-8cb3-2ed11b44844b" providerId="ADAL" clId="{4FFFB3C4-F2D5-49FA-B147-30FDB62F44CA}" dt="2026-06-24T21:21:49.822" v="1112" actId="164"/>
          <ac:spMkLst>
            <pc:docMk/>
            <pc:sldMk cId="0" sldId="260"/>
            <ac:spMk id="5" creationId="{00000000-0000-0000-0000-000000000000}"/>
          </ac:spMkLst>
        </pc:spChg>
        <pc:spChg chg="mod">
          <ac:chgData name="Higuera, Philip" userId="7d9b71f7-bf10-494e-8cb3-2ed11b44844b" providerId="ADAL" clId="{4FFFB3C4-F2D5-49FA-B147-30FDB62F44CA}" dt="2026-06-24T21:21:49.822" v="1112" actId="164"/>
          <ac:spMkLst>
            <pc:docMk/>
            <pc:sldMk cId="0" sldId="260"/>
            <ac:spMk id="6" creationId="{00000000-0000-0000-0000-000000000000}"/>
          </ac:spMkLst>
        </pc:spChg>
        <pc:spChg chg="mod">
          <ac:chgData name="Higuera, Philip" userId="7d9b71f7-bf10-494e-8cb3-2ed11b44844b" providerId="ADAL" clId="{4FFFB3C4-F2D5-49FA-B147-30FDB62F44CA}" dt="2026-06-24T21:21:49.822" v="1112" actId="164"/>
          <ac:spMkLst>
            <pc:docMk/>
            <pc:sldMk cId="0" sldId="260"/>
            <ac:spMk id="7" creationId="{00000000-0000-0000-0000-000000000000}"/>
          </ac:spMkLst>
        </pc:spChg>
        <pc:spChg chg="mod">
          <ac:chgData name="Higuera, Philip" userId="7d9b71f7-bf10-494e-8cb3-2ed11b44844b" providerId="ADAL" clId="{4FFFB3C4-F2D5-49FA-B147-30FDB62F44CA}" dt="2026-06-24T21:21:49.822" v="1112" actId="164"/>
          <ac:spMkLst>
            <pc:docMk/>
            <pc:sldMk cId="0" sldId="260"/>
            <ac:spMk id="8" creationId="{00000000-0000-0000-0000-000000000000}"/>
          </ac:spMkLst>
        </pc:spChg>
        <pc:spChg chg="mod">
          <ac:chgData name="Higuera, Philip" userId="7d9b71f7-bf10-494e-8cb3-2ed11b44844b" providerId="ADAL" clId="{4FFFB3C4-F2D5-49FA-B147-30FDB62F44CA}" dt="2026-06-24T21:21:49.822" v="1112" actId="164"/>
          <ac:spMkLst>
            <pc:docMk/>
            <pc:sldMk cId="0" sldId="260"/>
            <ac:spMk id="9" creationId="{00000000-0000-0000-0000-000000000000}"/>
          </ac:spMkLst>
        </pc:spChg>
        <pc:grpChg chg="add mod">
          <ac:chgData name="Higuera, Philip" userId="7d9b71f7-bf10-494e-8cb3-2ed11b44844b" providerId="ADAL" clId="{4FFFB3C4-F2D5-49FA-B147-30FDB62F44CA}" dt="2026-06-24T21:21:49.822" v="1112" actId="164"/>
          <ac:grpSpMkLst>
            <pc:docMk/>
            <pc:sldMk cId="0" sldId="260"/>
            <ac:grpSpMk id="10" creationId="{C2437946-4741-61C0-14CE-630950ED36DF}"/>
          </ac:grpSpMkLst>
        </pc:grpChg>
      </pc:sldChg>
      <pc:sldChg chg="addSp delSp modSp mod modAnim">
        <pc:chgData name="Higuera, Philip" userId="7d9b71f7-bf10-494e-8cb3-2ed11b44844b" providerId="ADAL" clId="{4FFFB3C4-F2D5-49FA-B147-30FDB62F44CA}" dt="2026-06-24T23:01:29.030" v="1735"/>
        <pc:sldMkLst>
          <pc:docMk/>
          <pc:sldMk cId="0" sldId="261"/>
        </pc:sldMkLst>
        <pc:spChg chg="mod">
          <ac:chgData name="Higuera, Philip" userId="7d9b71f7-bf10-494e-8cb3-2ed11b44844b" providerId="ADAL" clId="{4FFFB3C4-F2D5-49FA-B147-30FDB62F44CA}" dt="2026-06-24T21:22:17.324" v="1116" actId="208"/>
          <ac:spMkLst>
            <pc:docMk/>
            <pc:sldMk cId="0" sldId="261"/>
            <ac:spMk id="5" creationId="{00000000-0000-0000-0000-000000000000}"/>
          </ac:spMkLst>
        </pc:spChg>
        <pc:spChg chg="del">
          <ac:chgData name="Higuera, Philip" userId="7d9b71f7-bf10-494e-8cb3-2ed11b44844b" providerId="ADAL" clId="{4FFFB3C4-F2D5-49FA-B147-30FDB62F44CA}" dt="2026-06-24T21:22:11.877" v="1115" actId="478"/>
          <ac:spMkLst>
            <pc:docMk/>
            <pc:sldMk cId="0" sldId="261"/>
            <ac:spMk id="6" creationId="{00000000-0000-0000-0000-000000000000}"/>
          </ac:spMkLst>
        </pc:spChg>
        <pc:spChg chg="mod">
          <ac:chgData name="Higuera, Philip" userId="7d9b71f7-bf10-494e-8cb3-2ed11b44844b" providerId="ADAL" clId="{4FFFB3C4-F2D5-49FA-B147-30FDB62F44CA}" dt="2026-06-24T20:58:23.126" v="470" actId="20577"/>
          <ac:spMkLst>
            <pc:docMk/>
            <pc:sldMk cId="0" sldId="261"/>
            <ac:spMk id="10" creationId="{00000000-0000-0000-0000-000000000000}"/>
          </ac:spMkLst>
        </pc:spChg>
        <pc:spChg chg="mod">
          <ac:chgData name="Higuera, Philip" userId="7d9b71f7-bf10-494e-8cb3-2ed11b44844b" providerId="ADAL" clId="{4FFFB3C4-F2D5-49FA-B147-30FDB62F44CA}" dt="2026-06-24T21:22:20.847" v="1117" actId="208"/>
          <ac:spMkLst>
            <pc:docMk/>
            <pc:sldMk cId="0" sldId="261"/>
            <ac:spMk id="12" creationId="{00000000-0000-0000-0000-000000000000}"/>
          </ac:spMkLst>
        </pc:spChg>
        <pc:spChg chg="del">
          <ac:chgData name="Higuera, Philip" userId="7d9b71f7-bf10-494e-8cb3-2ed11b44844b" providerId="ADAL" clId="{4FFFB3C4-F2D5-49FA-B147-30FDB62F44CA}" dt="2026-06-24T21:22:10.417" v="1114" actId="478"/>
          <ac:spMkLst>
            <pc:docMk/>
            <pc:sldMk cId="0" sldId="261"/>
            <ac:spMk id="13" creationId="{00000000-0000-0000-0000-000000000000}"/>
          </ac:spMkLst>
        </pc:spChg>
        <pc:spChg chg="mod">
          <ac:chgData name="Higuera, Philip" userId="7d9b71f7-bf10-494e-8cb3-2ed11b44844b" providerId="ADAL" clId="{4FFFB3C4-F2D5-49FA-B147-30FDB62F44CA}" dt="2026-06-24T21:38:20.275" v="1302" actId="20577"/>
          <ac:spMkLst>
            <pc:docMk/>
            <pc:sldMk cId="0" sldId="261"/>
            <ac:spMk id="17"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18"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19" creationId="{00000000-0000-0000-0000-000000000000}"/>
          </ac:spMkLst>
        </pc:spChg>
        <pc:spChg chg="del mod">
          <ac:chgData name="Higuera, Philip" userId="7d9b71f7-bf10-494e-8cb3-2ed11b44844b" providerId="ADAL" clId="{4FFFB3C4-F2D5-49FA-B147-30FDB62F44CA}" dt="2026-06-24T20:57:36.604" v="461" actId="478"/>
          <ac:spMkLst>
            <pc:docMk/>
            <pc:sldMk cId="0" sldId="261"/>
            <ac:spMk id="20"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21"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22"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24"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25" creationId="{00000000-0000-0000-0000-000000000000}"/>
          </ac:spMkLst>
        </pc:spChg>
        <pc:spChg chg="mod">
          <ac:chgData name="Higuera, Philip" userId="7d9b71f7-bf10-494e-8cb3-2ed11b44844b" providerId="ADAL" clId="{4FFFB3C4-F2D5-49FA-B147-30FDB62F44CA}" dt="2026-06-24T20:57:51.066" v="465" actId="207"/>
          <ac:spMkLst>
            <pc:docMk/>
            <pc:sldMk cId="0" sldId="261"/>
            <ac:spMk id="26" creationId="{00000000-0000-0000-0000-000000000000}"/>
          </ac:spMkLst>
        </pc:spChg>
        <pc:spChg chg="del mod">
          <ac:chgData name="Higuera, Philip" userId="7d9b71f7-bf10-494e-8cb3-2ed11b44844b" providerId="ADAL" clId="{4FFFB3C4-F2D5-49FA-B147-30FDB62F44CA}" dt="2026-06-24T20:57:44.365" v="464" actId="478"/>
          <ac:spMkLst>
            <pc:docMk/>
            <pc:sldMk cId="0" sldId="261"/>
            <ac:spMk id="27"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28"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29"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30" creationId="{00000000-0000-0000-0000-000000000000}"/>
          </ac:spMkLst>
        </pc:spChg>
        <pc:spChg chg="mod">
          <ac:chgData name="Higuera, Philip" userId="7d9b71f7-bf10-494e-8cb3-2ed11b44844b" providerId="ADAL" clId="{4FFFB3C4-F2D5-49FA-B147-30FDB62F44CA}" dt="2026-06-24T23:01:19.222" v="1734" actId="164"/>
          <ac:spMkLst>
            <pc:docMk/>
            <pc:sldMk cId="0" sldId="261"/>
            <ac:spMk id="31" creationId="{00000000-0000-0000-0000-000000000000}"/>
          </ac:spMkLst>
        </pc:spChg>
      </pc:sldChg>
      <pc:sldChg chg="addSp delSp modSp mod modAnim">
        <pc:chgData name="Higuera, Philip" userId="7d9b71f7-bf10-494e-8cb3-2ed11b44844b" providerId="ADAL" clId="{4FFFB3C4-F2D5-49FA-B147-30FDB62F44CA}" dt="2026-06-24T23:03:37.965" v="1778" actId="207"/>
        <pc:sldMkLst>
          <pc:docMk/>
          <pc:sldMk cId="0" sldId="262"/>
        </pc:sldMkLst>
        <pc:spChg chg="mod">
          <ac:chgData name="Higuera, Philip" userId="7d9b71f7-bf10-494e-8cb3-2ed11b44844b" providerId="ADAL" clId="{4FFFB3C4-F2D5-49FA-B147-30FDB62F44CA}" dt="2026-06-24T21:08:47.836" v="731" actId="14100"/>
          <ac:spMkLst>
            <pc:docMk/>
            <pc:sldMk cId="0" sldId="262"/>
            <ac:spMk id="3" creationId="{00000000-0000-0000-0000-000000000000}"/>
          </ac:spMkLst>
        </pc:spChg>
        <pc:spChg chg="mod">
          <ac:chgData name="Higuera, Philip" userId="7d9b71f7-bf10-494e-8cb3-2ed11b44844b" providerId="ADAL" clId="{4FFFB3C4-F2D5-49FA-B147-30FDB62F44CA}" dt="2026-06-24T21:41:54.630" v="1411" actId="14100"/>
          <ac:spMkLst>
            <pc:docMk/>
            <pc:sldMk cId="0" sldId="262"/>
            <ac:spMk id="4" creationId="{00000000-0000-0000-0000-000000000000}"/>
          </ac:spMkLst>
        </pc:spChg>
        <pc:spChg chg="mod">
          <ac:chgData name="Higuera, Philip" userId="7d9b71f7-bf10-494e-8cb3-2ed11b44844b" providerId="ADAL" clId="{4FFFB3C4-F2D5-49FA-B147-30FDB62F44CA}" dt="2026-06-24T21:42:08.993" v="1414" actId="14100"/>
          <ac:spMkLst>
            <pc:docMk/>
            <pc:sldMk cId="0" sldId="262"/>
            <ac:spMk id="5" creationId="{00000000-0000-0000-0000-000000000000}"/>
          </ac:spMkLst>
        </pc:spChg>
        <pc:spChg chg="mod">
          <ac:chgData name="Higuera, Philip" userId="7d9b71f7-bf10-494e-8cb3-2ed11b44844b" providerId="ADAL" clId="{4FFFB3C4-F2D5-49FA-B147-30FDB62F44CA}" dt="2026-06-24T21:41:28.626" v="1404" actId="14100"/>
          <ac:spMkLst>
            <pc:docMk/>
            <pc:sldMk cId="0" sldId="262"/>
            <ac:spMk id="6" creationId="{00000000-0000-0000-0000-000000000000}"/>
          </ac:spMkLst>
        </pc:spChg>
        <pc:spChg chg="mod">
          <ac:chgData name="Higuera, Philip" userId="7d9b71f7-bf10-494e-8cb3-2ed11b44844b" providerId="ADAL" clId="{4FFFB3C4-F2D5-49FA-B147-30FDB62F44CA}" dt="2026-06-24T21:42:12.532" v="1420" actId="1036"/>
          <ac:spMkLst>
            <pc:docMk/>
            <pc:sldMk cId="0" sldId="262"/>
            <ac:spMk id="7" creationId="{00000000-0000-0000-0000-000000000000}"/>
          </ac:spMkLst>
        </pc:spChg>
        <pc:spChg chg="mod">
          <ac:chgData name="Higuera, Philip" userId="7d9b71f7-bf10-494e-8cb3-2ed11b44844b" providerId="ADAL" clId="{4FFFB3C4-F2D5-49FA-B147-30FDB62F44CA}" dt="2026-06-24T23:03:37.965" v="1778" actId="207"/>
          <ac:spMkLst>
            <pc:docMk/>
            <pc:sldMk cId="0" sldId="262"/>
            <ac:spMk id="9" creationId="{00000000-0000-0000-0000-000000000000}"/>
          </ac:spMkLst>
        </pc:spChg>
        <pc:spChg chg="add mod">
          <ac:chgData name="Higuera, Philip" userId="7d9b71f7-bf10-494e-8cb3-2ed11b44844b" providerId="ADAL" clId="{4FFFB3C4-F2D5-49FA-B147-30FDB62F44CA}" dt="2026-06-24T21:10:49.237" v="765" actId="1038"/>
          <ac:spMkLst>
            <pc:docMk/>
            <pc:sldMk cId="0" sldId="262"/>
            <ac:spMk id="12" creationId="{77BA33EA-70A5-573D-9D17-25E703DB84B5}"/>
          </ac:spMkLst>
        </pc:spChg>
        <pc:spChg chg="add mod">
          <ac:chgData name="Higuera, Philip" userId="7d9b71f7-bf10-494e-8cb3-2ed11b44844b" providerId="ADAL" clId="{4FFFB3C4-F2D5-49FA-B147-30FDB62F44CA}" dt="2026-06-24T23:03:18.323" v="1777" actId="1076"/>
          <ac:spMkLst>
            <pc:docMk/>
            <pc:sldMk cId="0" sldId="262"/>
            <ac:spMk id="13" creationId="{DFB4FF2D-6422-3001-06F5-02AA7792048D}"/>
          </ac:spMkLst>
        </pc:spChg>
        <pc:spChg chg="add mod">
          <ac:chgData name="Higuera, Philip" userId="7d9b71f7-bf10-494e-8cb3-2ed11b44844b" providerId="ADAL" clId="{4FFFB3C4-F2D5-49FA-B147-30FDB62F44CA}" dt="2026-06-24T21:10:49.237" v="765" actId="1038"/>
          <ac:spMkLst>
            <pc:docMk/>
            <pc:sldMk cId="0" sldId="262"/>
            <ac:spMk id="14" creationId="{8153DE35-6347-0462-6B5E-B9E7F17EAC08}"/>
          </ac:spMkLst>
        </pc:spChg>
        <pc:picChg chg="del">
          <ac:chgData name="Higuera, Philip" userId="7d9b71f7-bf10-494e-8cb3-2ed11b44844b" providerId="ADAL" clId="{4FFFB3C4-F2D5-49FA-B147-30FDB62F44CA}" dt="2026-06-24T21:04:26.438" v="600" actId="478"/>
          <ac:picMkLst>
            <pc:docMk/>
            <pc:sldMk cId="0" sldId="262"/>
            <ac:picMk id="8" creationId="{00000000-0000-0000-0000-000000000000}"/>
          </ac:picMkLst>
        </pc:picChg>
        <pc:picChg chg="add mod">
          <ac:chgData name="Higuera, Philip" userId="7d9b71f7-bf10-494e-8cb3-2ed11b44844b" providerId="ADAL" clId="{4FFFB3C4-F2D5-49FA-B147-30FDB62F44CA}" dt="2026-06-24T21:10:49.237" v="765" actId="1038"/>
          <ac:picMkLst>
            <pc:docMk/>
            <pc:sldMk cId="0" sldId="262"/>
            <ac:picMk id="11" creationId="{FD86CD2C-6593-623C-91EF-9FB8F4E1F5DE}"/>
          </ac:picMkLst>
        </pc:picChg>
      </pc:sldChg>
      <pc:sldChg chg="modSp mod">
        <pc:chgData name="Higuera, Philip" userId="7d9b71f7-bf10-494e-8cb3-2ed11b44844b" providerId="ADAL" clId="{4FFFB3C4-F2D5-49FA-B147-30FDB62F44CA}" dt="2026-06-24T22:43:37.492" v="1733" actId="121"/>
        <pc:sldMkLst>
          <pc:docMk/>
          <pc:sldMk cId="0" sldId="263"/>
        </pc:sldMkLst>
        <pc:graphicFrameChg chg="modGraphic">
          <ac:chgData name="Higuera, Philip" userId="7d9b71f7-bf10-494e-8cb3-2ed11b44844b" providerId="ADAL" clId="{4FFFB3C4-F2D5-49FA-B147-30FDB62F44CA}" dt="2026-06-24T22:43:37.492" v="1733" actId="121"/>
          <ac:graphicFrameMkLst>
            <pc:docMk/>
            <pc:sldMk cId="0" sldId="263"/>
            <ac:graphicFrameMk id="9" creationId="{00000000-0000-0000-0000-000000000000}"/>
          </ac:graphicFrameMkLst>
        </pc:graphicFrameChg>
        <pc:picChg chg="mod">
          <ac:chgData name="Higuera, Philip" userId="7d9b71f7-bf10-494e-8cb3-2ed11b44844b" providerId="ADAL" clId="{4FFFB3C4-F2D5-49FA-B147-30FDB62F44CA}" dt="2026-06-24T22:43:24.876" v="1732" actId="1076"/>
          <ac:picMkLst>
            <pc:docMk/>
            <pc:sldMk cId="0" sldId="263"/>
            <ac:picMk id="5" creationId="{00000000-0000-0000-0000-000000000000}"/>
          </ac:picMkLst>
        </pc:picChg>
      </pc:sldChg>
      <pc:sldChg chg="addSp delSp modSp mod">
        <pc:chgData name="Higuera, Philip" userId="7d9b71f7-bf10-494e-8cb3-2ed11b44844b" providerId="ADAL" clId="{4FFFB3C4-F2D5-49FA-B147-30FDB62F44CA}" dt="2026-06-24T21:17:10.900" v="1065" actId="121"/>
        <pc:sldMkLst>
          <pc:docMk/>
          <pc:sldMk cId="0" sldId="264"/>
        </pc:sldMkLst>
        <pc:spChg chg="del mod">
          <ac:chgData name="Higuera, Philip" userId="7d9b71f7-bf10-494e-8cb3-2ed11b44844b" providerId="ADAL" clId="{4FFFB3C4-F2D5-49FA-B147-30FDB62F44CA}" dt="2026-06-24T21:16:40.759" v="1059" actId="478"/>
          <ac:spMkLst>
            <pc:docMk/>
            <pc:sldMk cId="0" sldId="264"/>
            <ac:spMk id="4" creationId="{00000000-0000-0000-0000-000000000000}"/>
          </ac:spMkLst>
        </pc:spChg>
        <pc:spChg chg="add mod">
          <ac:chgData name="Higuera, Philip" userId="7d9b71f7-bf10-494e-8cb3-2ed11b44844b" providerId="ADAL" clId="{4FFFB3C4-F2D5-49FA-B147-30FDB62F44CA}" dt="2026-06-24T21:17:04.593" v="1063" actId="121"/>
          <ac:spMkLst>
            <pc:docMk/>
            <pc:sldMk cId="0" sldId="264"/>
            <ac:spMk id="7" creationId="{AA9F5583-5C85-374B-4691-AD877BA27518}"/>
          </ac:spMkLst>
        </pc:spChg>
        <pc:spChg chg="add mod">
          <ac:chgData name="Higuera, Philip" userId="7d9b71f7-bf10-494e-8cb3-2ed11b44844b" providerId="ADAL" clId="{4FFFB3C4-F2D5-49FA-B147-30FDB62F44CA}" dt="2026-06-24T21:17:01.561" v="1062" actId="121"/>
          <ac:spMkLst>
            <pc:docMk/>
            <pc:sldMk cId="0" sldId="264"/>
            <ac:spMk id="8" creationId="{1CA3F19D-1BE9-32C5-4956-5111C17231B9}"/>
          </ac:spMkLst>
        </pc:spChg>
        <pc:spChg chg="add mod">
          <ac:chgData name="Higuera, Philip" userId="7d9b71f7-bf10-494e-8cb3-2ed11b44844b" providerId="ADAL" clId="{4FFFB3C4-F2D5-49FA-B147-30FDB62F44CA}" dt="2026-06-24T21:17:07.678" v="1064" actId="121"/>
          <ac:spMkLst>
            <pc:docMk/>
            <pc:sldMk cId="0" sldId="264"/>
            <ac:spMk id="9" creationId="{FF53127F-9E29-E1BD-8048-73DF2533BC2E}"/>
          </ac:spMkLst>
        </pc:spChg>
        <pc:spChg chg="add mod">
          <ac:chgData name="Higuera, Philip" userId="7d9b71f7-bf10-494e-8cb3-2ed11b44844b" providerId="ADAL" clId="{4FFFB3C4-F2D5-49FA-B147-30FDB62F44CA}" dt="2026-06-24T21:17:10.900" v="1065" actId="121"/>
          <ac:spMkLst>
            <pc:docMk/>
            <pc:sldMk cId="0" sldId="264"/>
            <ac:spMk id="10" creationId="{3299FCD9-65C6-3C9D-DEEC-8C7AF9FD8E9D}"/>
          </ac:spMkLst>
        </pc:spChg>
        <pc:picChg chg="del">
          <ac:chgData name="Higuera, Philip" userId="7d9b71f7-bf10-494e-8cb3-2ed11b44844b" providerId="ADAL" clId="{4FFFB3C4-F2D5-49FA-B147-30FDB62F44CA}" dt="2026-06-24T21:11:53.504" v="771" actId="478"/>
          <ac:picMkLst>
            <pc:docMk/>
            <pc:sldMk cId="0" sldId="264"/>
            <ac:picMk id="3" creationId="{00000000-0000-0000-0000-000000000000}"/>
          </ac:picMkLst>
        </pc:picChg>
        <pc:picChg chg="add mod">
          <ac:chgData name="Higuera, Philip" userId="7d9b71f7-bf10-494e-8cb3-2ed11b44844b" providerId="ADAL" clId="{4FFFB3C4-F2D5-49FA-B147-30FDB62F44CA}" dt="2026-06-24T21:12:12.631" v="775" actId="1076"/>
          <ac:picMkLst>
            <pc:docMk/>
            <pc:sldMk cId="0" sldId="264"/>
            <ac:picMk id="6" creationId="{BFA7DDB8-1913-10DA-97B6-33C819757AC6}"/>
          </ac:picMkLst>
        </pc:picChg>
      </pc:sldChg>
      <pc:sldChg chg="addSp delSp modSp mod">
        <pc:chgData name="Higuera, Philip" userId="7d9b71f7-bf10-494e-8cb3-2ed11b44844b" providerId="ADAL" clId="{4FFFB3C4-F2D5-49FA-B147-30FDB62F44CA}" dt="2026-06-24T21:18:10.313" v="1099"/>
        <pc:sldMkLst>
          <pc:docMk/>
          <pc:sldMk cId="0" sldId="265"/>
        </pc:sldMkLst>
        <pc:spChg chg="del">
          <ac:chgData name="Higuera, Philip" userId="7d9b71f7-bf10-494e-8cb3-2ed11b44844b" providerId="ADAL" clId="{4FFFB3C4-F2D5-49FA-B147-30FDB62F44CA}" dt="2026-06-24T21:17:25.391" v="1067" actId="478"/>
          <ac:spMkLst>
            <pc:docMk/>
            <pc:sldMk cId="0" sldId="265"/>
            <ac:spMk id="4" creationId="{00000000-0000-0000-0000-000000000000}"/>
          </ac:spMkLst>
        </pc:spChg>
        <pc:spChg chg="add mod">
          <ac:chgData name="Higuera, Philip" userId="7d9b71f7-bf10-494e-8cb3-2ed11b44844b" providerId="ADAL" clId="{4FFFB3C4-F2D5-49FA-B147-30FDB62F44CA}" dt="2026-06-24T21:18:10.313" v="1099"/>
          <ac:spMkLst>
            <pc:docMk/>
            <pc:sldMk cId="0" sldId="265"/>
            <ac:spMk id="5" creationId="{709DF221-2851-A2E2-8BE3-BFBAF3ABDA9B}"/>
          </ac:spMkLst>
        </pc:spChg>
        <pc:spChg chg="add mod">
          <ac:chgData name="Higuera, Philip" userId="7d9b71f7-bf10-494e-8cb3-2ed11b44844b" providerId="ADAL" clId="{4FFFB3C4-F2D5-49FA-B147-30FDB62F44CA}" dt="2026-06-24T21:17:25.899" v="1068"/>
          <ac:spMkLst>
            <pc:docMk/>
            <pc:sldMk cId="0" sldId="265"/>
            <ac:spMk id="6" creationId="{BCF42FFD-4BC2-9373-B7E0-1693387B9741}"/>
          </ac:spMkLst>
        </pc:spChg>
        <pc:spChg chg="add mod">
          <ac:chgData name="Higuera, Philip" userId="7d9b71f7-bf10-494e-8cb3-2ed11b44844b" providerId="ADAL" clId="{4FFFB3C4-F2D5-49FA-B147-30FDB62F44CA}" dt="2026-06-24T21:17:25.899" v="1068"/>
          <ac:spMkLst>
            <pc:docMk/>
            <pc:sldMk cId="0" sldId="265"/>
            <ac:spMk id="7" creationId="{952B81D3-3017-741E-7EA2-93BA8E5899E5}"/>
          </ac:spMkLst>
        </pc:spChg>
        <pc:spChg chg="add mod">
          <ac:chgData name="Higuera, Philip" userId="7d9b71f7-bf10-494e-8cb3-2ed11b44844b" providerId="ADAL" clId="{4FFFB3C4-F2D5-49FA-B147-30FDB62F44CA}" dt="2026-06-24T21:17:25.899" v="1068"/>
          <ac:spMkLst>
            <pc:docMk/>
            <pc:sldMk cId="0" sldId="265"/>
            <ac:spMk id="8" creationId="{18C5081D-A549-884E-032A-D437AD2BE61A}"/>
          </ac:spMkLst>
        </pc:spChg>
        <pc:picChg chg="del">
          <ac:chgData name="Higuera, Philip" userId="7d9b71f7-bf10-494e-8cb3-2ed11b44844b" providerId="ADAL" clId="{4FFFB3C4-F2D5-49FA-B147-30FDB62F44CA}" dt="2026-06-24T21:17:22.420" v="1066" actId="478"/>
          <ac:picMkLst>
            <pc:docMk/>
            <pc:sldMk cId="0" sldId="265"/>
            <ac:picMk id="3" creationId="{00000000-0000-0000-0000-000000000000}"/>
          </ac:picMkLst>
        </pc:picChg>
        <pc:picChg chg="add mod">
          <ac:chgData name="Higuera, Philip" userId="7d9b71f7-bf10-494e-8cb3-2ed11b44844b" providerId="ADAL" clId="{4FFFB3C4-F2D5-49FA-B147-30FDB62F44CA}" dt="2026-06-24T21:17:46.567" v="1092" actId="1038"/>
          <ac:picMkLst>
            <pc:docMk/>
            <pc:sldMk cId="0" sldId="265"/>
            <ac:picMk id="10" creationId="{3F81F351-B7F5-BF96-A4C0-502EED284714}"/>
          </ac:picMkLst>
        </pc:picChg>
      </pc:sldChg>
      <pc:sldChg chg="modSp mod">
        <pc:chgData name="Higuera, Philip" userId="7d9b71f7-bf10-494e-8cb3-2ed11b44844b" providerId="ADAL" clId="{4FFFB3C4-F2D5-49FA-B147-30FDB62F44CA}" dt="2026-06-24T21:29:37.524" v="1294" actId="20577"/>
        <pc:sldMkLst>
          <pc:docMk/>
          <pc:sldMk cId="0" sldId="266"/>
        </pc:sldMkLst>
        <pc:spChg chg="mod">
          <ac:chgData name="Higuera, Philip" userId="7d9b71f7-bf10-494e-8cb3-2ed11b44844b" providerId="ADAL" clId="{4FFFB3C4-F2D5-49FA-B147-30FDB62F44CA}" dt="2026-06-24T21:25:31.075" v="1258" actId="20577"/>
          <ac:spMkLst>
            <pc:docMk/>
            <pc:sldMk cId="0" sldId="266"/>
            <ac:spMk id="5" creationId="{00000000-0000-0000-0000-000000000000}"/>
          </ac:spMkLst>
        </pc:spChg>
        <pc:spChg chg="mod">
          <ac:chgData name="Higuera, Philip" userId="7d9b71f7-bf10-494e-8cb3-2ed11b44844b" providerId="ADAL" clId="{4FFFB3C4-F2D5-49FA-B147-30FDB62F44CA}" dt="2026-06-24T21:29:37.524" v="1294" actId="20577"/>
          <ac:spMkLst>
            <pc:docMk/>
            <pc:sldMk cId="0" sldId="266"/>
            <ac:spMk id="7" creationId="{00000000-0000-0000-0000-000000000000}"/>
          </ac:spMkLst>
        </pc:spChg>
      </pc:sldChg>
    </pc:docChg>
  </pc:docChgLst>
  <pc:docChgLst>
    <pc:chgData name="Higuera, Philip" userId="7d9b71f7-bf10-494e-8cb3-2ed11b44844b" providerId="ADAL" clId="{50F7E95B-CBEE-4D68-902A-C9C37096BF45}"/>
    <pc:docChg chg="modSld">
      <pc:chgData name="Higuera, Philip" userId="7d9b71f7-bf10-494e-8cb3-2ed11b44844b" providerId="ADAL" clId="{50F7E95B-CBEE-4D68-902A-C9C37096BF45}" dt="2026-06-25T03:36:29.945" v="129" actId="1076"/>
      <pc:docMkLst>
        <pc:docMk/>
      </pc:docMkLst>
      <pc:sldChg chg="addSp modSp mod">
        <pc:chgData name="Higuera, Philip" userId="7d9b71f7-bf10-494e-8cb3-2ed11b44844b" providerId="ADAL" clId="{50F7E95B-CBEE-4D68-902A-C9C37096BF45}" dt="2026-06-25T03:36:29.945" v="129" actId="1076"/>
        <pc:sldMkLst>
          <pc:docMk/>
          <pc:sldMk cId="0" sldId="256"/>
        </pc:sldMkLst>
        <pc:spChg chg="mod">
          <ac:chgData name="Higuera, Philip" userId="7d9b71f7-bf10-494e-8cb3-2ed11b44844b" providerId="ADAL" clId="{50F7E95B-CBEE-4D68-902A-C9C37096BF45}" dt="2026-06-25T03:13:52.087" v="8" actId="20577"/>
          <ac:spMkLst>
            <pc:docMk/>
            <pc:sldMk cId="0" sldId="256"/>
            <ac:spMk id="3" creationId="{00000000-0000-0000-0000-000000000000}"/>
          </ac:spMkLst>
        </pc:spChg>
        <pc:spChg chg="mod">
          <ac:chgData name="Higuera, Philip" userId="7d9b71f7-bf10-494e-8cb3-2ed11b44844b" providerId="ADAL" clId="{50F7E95B-CBEE-4D68-902A-C9C37096BF45}" dt="2026-06-25T03:36:14.210" v="127" actId="20577"/>
          <ac:spMkLst>
            <pc:docMk/>
            <pc:sldMk cId="0" sldId="256"/>
            <ac:spMk id="4" creationId="{00000000-0000-0000-0000-000000000000}"/>
          </ac:spMkLst>
        </pc:spChg>
        <pc:picChg chg="add mod">
          <ac:chgData name="Higuera, Philip" userId="7d9b71f7-bf10-494e-8cb3-2ed11b44844b" providerId="ADAL" clId="{50F7E95B-CBEE-4D68-902A-C9C37096BF45}" dt="2026-06-25T03:36:29.945" v="129" actId="1076"/>
          <ac:picMkLst>
            <pc:docMk/>
            <pc:sldMk cId="0" sldId="256"/>
            <ac:picMk id="6" creationId="{9C9288D3-C68C-5097-64DB-3EF855EB1BC3}"/>
          </ac:picMkLst>
        </pc:picChg>
      </pc:sldChg>
      <pc:sldChg chg="modSp mod">
        <pc:chgData name="Higuera, Philip" userId="7d9b71f7-bf10-494e-8cb3-2ed11b44844b" providerId="ADAL" clId="{50F7E95B-CBEE-4D68-902A-C9C37096BF45}" dt="2026-06-25T03:14:22.652" v="26" actId="20577"/>
        <pc:sldMkLst>
          <pc:docMk/>
          <pc:sldMk cId="0" sldId="257"/>
        </pc:sldMkLst>
        <pc:spChg chg="mod">
          <ac:chgData name="Higuera, Philip" userId="7d9b71f7-bf10-494e-8cb3-2ed11b44844b" providerId="ADAL" clId="{50F7E95B-CBEE-4D68-902A-C9C37096BF45}" dt="2026-06-25T03:14:22.652" v="26" actId="20577"/>
          <ac:spMkLst>
            <pc:docMk/>
            <pc:sldMk cId="0" sldId="257"/>
            <ac:spMk id="6" creationId="{00000000-0000-0000-0000-000000000000}"/>
          </ac:spMkLst>
        </pc:spChg>
      </pc:sldChg>
      <pc:sldChg chg="modSp mod">
        <pc:chgData name="Higuera, Philip" userId="7d9b71f7-bf10-494e-8cb3-2ed11b44844b" providerId="ADAL" clId="{50F7E95B-CBEE-4D68-902A-C9C37096BF45}" dt="2026-06-25T03:14:39.378" v="33" actId="20577"/>
        <pc:sldMkLst>
          <pc:docMk/>
          <pc:sldMk cId="0" sldId="258"/>
        </pc:sldMkLst>
        <pc:spChg chg="mod">
          <ac:chgData name="Higuera, Philip" userId="7d9b71f7-bf10-494e-8cb3-2ed11b44844b" providerId="ADAL" clId="{50F7E95B-CBEE-4D68-902A-C9C37096BF45}" dt="2026-06-25T03:14:39.378" v="33" actId="20577"/>
          <ac:spMkLst>
            <pc:docMk/>
            <pc:sldMk cId="0" sldId="258"/>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6494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updates from the past month. Both expand what CharAnalysis tells users about the reliability of their results — first around signal quality (SNI), second around chronological precision and its effects on peak detection.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updates are about uncertainty — about helping users understand where to trust the results and where to be cautious. The SNI advisory is in the released package; the chronological uncertainty tools are in development scripts on the dev branch.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advisory uses the cli package — it appears after all other output so it stands out rather than being buried mid-run. It's placed in CharAnalysis() rather than inside char_thresh_local/global so it doesn't fire repeatedly during background sensitivity runs. CO shows 12.8% below threshold; CH10 and the other test datasets have higher SNI.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change is making SNI a gate, not an afterthought. The vignette now says explicitly: if SNI is below 3.0 for substantial portions of the record, fire-history statistics from those intervals should not be interpreted without explicit acknowledgment of that limitation. Step 2 is highlighted because that's where users most commonly skip ahead.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here is that fire-regime statistics like mFRI are less sensitive to per-peak chronological uncertainty, because adjacent peaks share the same underlying age-depth model — errors tend to be correlated, and largely cancel when you subtract one peak age from another. The big payoff is for individual peak timing and detection consistency.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only step outside CharAnalysis — users need rbacon or similar already run. Steps 2-4 are implemented as scripts in tests/ on the dev branch; packaging as exported functions with Roxygen docs is the next milestone. The 2-min runtime is on a 19-core machine; single-core is about 15-16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adaptive window is the key methodological decision. A fixed window would over-match in well-dated records and under-match in poorly dated ones. This formula scales the window to both chronological precision and ecological context (how close events typically are). The output table reports window_k for each peak, so users can see how it was applied.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sites show 99% median detection frequency — peaks are robustly identified even with substantial chronological uncertainty. The key difference is timing precision: 23 yr SD for CH10 vs 53 yr for SI17, driven directly by age-model precision. The 9 ensemble-only peaks in CH10 are a real result of its narrow matching windows: secondary detections form coherent clusters. In SI17, wide windows absorb those detections as scatter — the null result is correct, not a failure.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(b) is the main diagnostic. Black bars = reference peaks; colored bars = ensemble-only. Horizontal bars show ±95% CI on peak timing. 56 of 59 reference peaks detected in ≥90% of 1,000 iterations. The 9 ensemble-only candidates are shown at bottom.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SI17 is the null case. Detection frequency is equally high — 24 of 25 peaks in ≥90% of iterations — but the timing CI ribbons are much wider. Wide matching windows mean secondary detections scatter rather than cluster, so they don't pass the coherence filter. This is the correct result for a less precisely dated record.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 advisory and figure reorganization are in the dev branch now. The ensemble scripts are functional but not yet packaged — they're in tests/ as source scripts. Main work ahead is packaging the ensemble function, adding the rbacon interface, and writing the formal vignette.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phiguera/CharAnalysis/blob/dev/CharAnalysis_2_0_R/NEWS.m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github.com/phiguera/CharAnalysis/blob/dev/CharAnalysis_2_0_R/vignettes/chronological_uncertainty_draft.md"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783080"/>
            <a:ext cx="9144000" cy="54864"/>
          </a:xfrm>
          <a:prstGeom prst="rect">
            <a:avLst/>
          </a:prstGeom>
          <a:solidFill>
            <a:srgbClr val="333333"/>
          </a:solidFill>
          <a:ln w="12700">
            <a:solidFill>
              <a:srgbClr val="333333"/>
            </a:solidFill>
            <a:prstDash val="solid"/>
          </a:ln>
        </p:spPr>
        <p:txBody>
          <a:bodyPr/>
          <a:lstStyle/>
          <a:p>
            <a:endParaRPr lang="en-US"/>
          </a:p>
        </p:txBody>
      </p:sp>
      <p:sp>
        <p:nvSpPr>
          <p:cNvPr id="3" name="Text 1"/>
          <p:cNvSpPr/>
          <p:nvPr/>
        </p:nvSpPr>
        <p:spPr>
          <a:xfrm>
            <a:off x="685800" y="548640"/>
            <a:ext cx="7772400" cy="866987"/>
          </a:xfrm>
          <a:prstGeom prst="rect">
            <a:avLst/>
          </a:prstGeom>
          <a:noFill/>
          <a:ln/>
        </p:spPr>
        <p:txBody>
          <a:bodyPr wrap="square" lIns="0" tIns="0" rIns="0" bIns="0" rtlCol="0" anchor="b"/>
          <a:lstStyle/>
          <a:p>
            <a:pPr marL="0" indent="0" algn="l">
              <a:buNone/>
            </a:pPr>
            <a:r>
              <a:rPr lang="en-US" sz="3600" b="1" i="1" dirty="0">
                <a:solidFill>
                  <a:srgbClr val="000000"/>
                </a:solidFill>
                <a:latin typeface="Arial" pitchFamily="34" charset="0"/>
                <a:ea typeface="Arial" pitchFamily="34" charset="-122"/>
                <a:cs typeface="Arial" pitchFamily="34" charset="-120"/>
              </a:rPr>
              <a:t>CharAnalysis</a:t>
            </a:r>
            <a:r>
              <a:rPr lang="en-US" sz="3600" b="1" dirty="0">
                <a:solidFill>
                  <a:srgbClr val="000000"/>
                </a:solidFill>
                <a:latin typeface="Arial" pitchFamily="34" charset="0"/>
                <a:ea typeface="Arial" pitchFamily="34" charset="-122"/>
                <a:cs typeface="Arial" pitchFamily="34" charset="-120"/>
              </a:rPr>
              <a:t> 2.0: </a:t>
            </a:r>
            <a:r>
              <a:rPr lang="en-US" sz="3200" b="1" dirty="0">
                <a:solidFill>
                  <a:srgbClr val="000000"/>
                </a:solidFill>
                <a:latin typeface="Arial" pitchFamily="34" charset="0"/>
                <a:ea typeface="Arial" pitchFamily="34" charset="-122"/>
                <a:cs typeface="Arial" pitchFamily="34" charset="-120"/>
              </a:rPr>
              <a:t>June 2026 Update</a:t>
            </a:r>
            <a:endParaRPr lang="en-US" sz="3600" dirty="0"/>
          </a:p>
        </p:txBody>
      </p:sp>
      <p:sp>
        <p:nvSpPr>
          <p:cNvPr id="4" name="Text 2"/>
          <p:cNvSpPr/>
          <p:nvPr/>
        </p:nvSpPr>
        <p:spPr>
          <a:xfrm>
            <a:off x="685800" y="2011680"/>
            <a:ext cx="7772400" cy="2819724"/>
          </a:xfrm>
          <a:prstGeom prst="rect">
            <a:avLst/>
          </a:prstGeom>
          <a:noFill/>
          <a:ln/>
        </p:spPr>
        <p:txBody>
          <a:bodyPr wrap="square" lIns="0" tIns="0" rIns="0" bIns="0" rtlCol="0" anchor="t"/>
          <a:lstStyle/>
          <a:p>
            <a:pPr marL="0" indent="0" algn="l">
              <a:buNone/>
            </a:pPr>
            <a:r>
              <a:rPr lang="en-US" sz="2400" b="1" dirty="0">
                <a:solidFill>
                  <a:srgbClr val="444444"/>
                </a:solidFill>
                <a:latin typeface="Arial" pitchFamily="34" charset="0"/>
                <a:ea typeface="Arial" pitchFamily="34" charset="-122"/>
                <a:cs typeface="Arial" pitchFamily="34" charset="-120"/>
              </a:rPr>
              <a:t>SNI warning  ·  Chronological uncertainty ensemble</a:t>
            </a:r>
            <a:endParaRPr lang="en-US" sz="2400" b="1" dirty="0"/>
          </a:p>
          <a:p>
            <a:pPr marL="0" indent="0" algn="l">
              <a:buNone/>
            </a:pPr>
            <a:endParaRPr lang="en-US" sz="1800" dirty="0">
              <a:solidFill>
                <a:srgbClr val="444444"/>
              </a:solidFill>
              <a:latin typeface="Arial" pitchFamily="34" charset="0"/>
              <a:ea typeface="Arial" pitchFamily="34" charset="-122"/>
              <a:cs typeface="Arial" pitchFamily="34" charset="-120"/>
            </a:endParaRPr>
          </a:p>
          <a:p>
            <a:r>
              <a:rPr lang="en-US" dirty="0">
                <a:solidFill>
                  <a:srgbClr val="444444"/>
                </a:solidFill>
                <a:latin typeface="Arial" pitchFamily="34" charset="0"/>
                <a:ea typeface="Arial" pitchFamily="34" charset="-122"/>
                <a:cs typeface="Arial" pitchFamily="34" charset="-120"/>
              </a:rPr>
              <a:t>GitHub, NEWS: </a:t>
            </a:r>
            <a:r>
              <a:rPr lang="en-US" sz="1200" dirty="0">
                <a:solidFill>
                  <a:srgbClr val="444444"/>
                </a:solidFill>
                <a:latin typeface="Arial" pitchFamily="34" charset="0"/>
                <a:ea typeface="Arial" pitchFamily="34" charset="-122"/>
                <a:cs typeface="Arial" pitchFamily="34" charset="-120"/>
                <a:hlinkClick r:id="rId3"/>
              </a:rPr>
              <a:t>https://github.com/phiguera/CharAnalysis/blob/dev/CharAnalysis_2_0_R/NEWS.md</a:t>
            </a:r>
            <a:r>
              <a:rPr lang="en-US" dirty="0">
                <a:solidFill>
                  <a:srgbClr val="444444"/>
                </a:solidFill>
                <a:latin typeface="Arial" pitchFamily="34" charset="0"/>
                <a:ea typeface="Arial" pitchFamily="34" charset="-122"/>
                <a:cs typeface="Arial" pitchFamily="34" charset="-120"/>
              </a:rPr>
              <a:t> </a:t>
            </a:r>
          </a:p>
          <a:p>
            <a:r>
              <a:rPr lang="en-US" sz="1800" dirty="0">
                <a:solidFill>
                  <a:srgbClr val="444444"/>
                </a:solidFill>
                <a:latin typeface="Arial" pitchFamily="34" charset="0"/>
                <a:ea typeface="Arial" pitchFamily="34" charset="-122"/>
                <a:cs typeface="Arial" pitchFamily="34" charset="-120"/>
              </a:rPr>
              <a:t>GitHub, Chronological Uncertainty Vignette: </a:t>
            </a:r>
            <a:r>
              <a:rPr lang="en-US" sz="1100" dirty="0">
                <a:solidFill>
                  <a:srgbClr val="444444"/>
                </a:solidFill>
                <a:latin typeface="Arial" pitchFamily="34" charset="0"/>
                <a:ea typeface="Arial" pitchFamily="34" charset="-122"/>
                <a:cs typeface="Arial" pitchFamily="34" charset="-120"/>
                <a:hlinkClick r:id="rId4"/>
              </a:rPr>
              <a:t>https://github.com/phiguera/CharAnalysis/blob/dev/CharAnalysis_2_0_R/vignettes/chronological_uncertainty_draft.md</a:t>
            </a:r>
            <a:r>
              <a:rPr lang="en-US" dirty="0">
                <a:solidFill>
                  <a:srgbClr val="444444"/>
                </a:solidFill>
                <a:latin typeface="Arial" pitchFamily="34" charset="0"/>
                <a:ea typeface="Arial" pitchFamily="34" charset="-122"/>
                <a:cs typeface="Arial" pitchFamily="34" charset="-120"/>
              </a:rPr>
              <a:t> </a:t>
            </a:r>
            <a:endParaRPr lang="en-US" sz="1800" dirty="0">
              <a:solidFill>
                <a:srgbClr val="444444"/>
              </a:solidFill>
              <a:latin typeface="Arial" pitchFamily="34" charset="0"/>
              <a:ea typeface="Arial" pitchFamily="34" charset="-122"/>
              <a:cs typeface="Arial" pitchFamily="34" charset="-120"/>
            </a:endParaRPr>
          </a:p>
          <a:p>
            <a:pPr marL="0" indent="0" algn="l">
              <a:buNone/>
            </a:pPr>
            <a:endParaRPr lang="en-US" dirty="0">
              <a:solidFill>
                <a:srgbClr val="444444"/>
              </a:solidFill>
              <a:latin typeface="Arial" pitchFamily="34" charset="0"/>
              <a:ea typeface="Arial" pitchFamily="34" charset="-122"/>
              <a:cs typeface="Arial" pitchFamily="34" charset="-120"/>
            </a:endParaRPr>
          </a:p>
          <a:p>
            <a:pPr marL="0" indent="0" algn="l">
              <a:buNone/>
            </a:pPr>
            <a:endParaRPr lang="en-US" dirty="0">
              <a:solidFill>
                <a:srgbClr val="444444"/>
              </a:solidFill>
              <a:latin typeface="Arial" pitchFamily="34" charset="0"/>
              <a:ea typeface="Arial" pitchFamily="34" charset="-122"/>
              <a:cs typeface="Arial" pitchFamily="34" charset="-120"/>
            </a:endParaRPr>
          </a:p>
          <a:p>
            <a:pPr marL="0" indent="0" algn="l">
              <a:buNone/>
            </a:pPr>
            <a:endParaRPr lang="en-US" sz="1800" dirty="0">
              <a:solidFill>
                <a:srgbClr val="444444"/>
              </a:solidFill>
              <a:latin typeface="Arial" pitchFamily="34" charset="0"/>
              <a:ea typeface="Arial" pitchFamily="34" charset="-122"/>
              <a:cs typeface="Arial" pitchFamily="34" charset="-120"/>
            </a:endParaRPr>
          </a:p>
          <a:p>
            <a:pPr marL="0" indent="0" algn="l">
              <a:buNone/>
            </a:pPr>
            <a:endParaRPr lang="en-US" dirty="0">
              <a:solidFill>
                <a:srgbClr val="444444"/>
              </a:solidFill>
              <a:latin typeface="Arial" pitchFamily="34" charset="0"/>
              <a:ea typeface="Arial" pitchFamily="34" charset="-122"/>
              <a:cs typeface="Arial" pitchFamily="34" charset="-120"/>
            </a:endParaRPr>
          </a:p>
          <a:p>
            <a:pPr marL="0" indent="0" algn="l">
              <a:buNone/>
            </a:pPr>
            <a:r>
              <a:rPr lang="en-US" sz="1800" dirty="0">
                <a:solidFill>
                  <a:srgbClr val="444444"/>
                </a:solidFill>
                <a:latin typeface="Arial" pitchFamily="34" charset="0"/>
                <a:ea typeface="Arial" pitchFamily="34" charset="-122"/>
                <a:cs typeface="Arial" pitchFamily="34" charset="-120"/>
              </a:rPr>
              <a:t>Phil Higuera — 25 June, 2026</a:t>
            </a:r>
          </a:p>
          <a:p>
            <a:pPr marL="0" indent="0" algn="l">
              <a:buNone/>
            </a:pPr>
            <a:endParaRPr lang="en-US" sz="1800" dirty="0">
              <a:solidFill>
                <a:srgbClr val="444444"/>
              </a:solidFill>
              <a:latin typeface="Arial" pitchFamily="34" charset="0"/>
              <a:ea typeface="Arial" pitchFamily="34" charset="-122"/>
              <a:cs typeface="Arial" pitchFamily="34" charset="-120"/>
            </a:endParaRPr>
          </a:p>
          <a:p>
            <a:pPr marL="0" indent="0" algn="l">
              <a:buNone/>
            </a:pPr>
            <a:endParaRPr lang="en-US" sz="1800" dirty="0">
              <a:solidFill>
                <a:srgbClr val="444444"/>
              </a:solidFill>
              <a:latin typeface="Arial" pitchFamily="34" charset="0"/>
              <a:ea typeface="Arial" pitchFamily="34" charset="-122"/>
              <a:cs typeface="Arial" pitchFamily="34" charset="-120"/>
            </a:endParaRPr>
          </a:p>
          <a:p>
            <a:pPr marL="0" indent="0" algn="l">
              <a:buNone/>
            </a:pPr>
            <a:endParaRPr lang="en-US" dirty="0">
              <a:solidFill>
                <a:srgbClr val="444444"/>
              </a:solidFill>
              <a:latin typeface="Arial" pitchFamily="34" charset="0"/>
              <a:cs typeface="Arial" pitchFamily="34" charset="-120"/>
            </a:endParaRPr>
          </a:p>
          <a:p>
            <a:pPr marL="0" indent="0" algn="l">
              <a:buNone/>
            </a:pPr>
            <a:endParaRPr lang="en-US" sz="1800" dirty="0"/>
          </a:p>
        </p:txBody>
      </p:sp>
      <p:pic>
        <p:nvPicPr>
          <p:cNvPr id="6" name="Picture 5">
            <a:extLst>
              <a:ext uri="{FF2B5EF4-FFF2-40B4-BE49-F238E27FC236}">
                <a16:creationId xmlns:a16="http://schemas.microsoft.com/office/drawing/2014/main" id="{9C9288D3-C68C-5097-64DB-3EF855EB1BC3}"/>
              </a:ext>
            </a:extLst>
          </p:cNvPr>
          <p:cNvPicPr>
            <a:picLocks noChangeAspect="1"/>
          </p:cNvPicPr>
          <p:nvPr/>
        </p:nvPicPr>
        <p:blipFill>
          <a:blip r:embed="rId5"/>
          <a:stretch>
            <a:fillRect/>
          </a:stretch>
        </p:blipFill>
        <p:spPr>
          <a:xfrm>
            <a:off x="6885188" y="3597575"/>
            <a:ext cx="1122196" cy="10986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00000"/>
                </a:solidFill>
                <a:latin typeface="Arial" pitchFamily="34" charset="0"/>
                <a:ea typeface="Arial" pitchFamily="34" charset="-122"/>
                <a:cs typeface="Arial" pitchFamily="34" charset="-120"/>
              </a:rPr>
              <a:t>Today's updates</a:t>
            </a:r>
            <a:endParaRPr lang="en-US" sz="2600" dirty="0"/>
          </a:p>
        </p:txBody>
      </p:sp>
      <p:sp>
        <p:nvSpPr>
          <p:cNvPr id="3" name="Shape 1"/>
          <p:cNvSpPr/>
          <p:nvPr/>
        </p:nvSpPr>
        <p:spPr>
          <a:xfrm>
            <a:off x="457200" y="850392"/>
            <a:ext cx="8229600" cy="36576"/>
          </a:xfrm>
          <a:prstGeom prst="rect">
            <a:avLst/>
          </a:prstGeom>
          <a:solidFill>
            <a:srgbClr val="888888"/>
          </a:solidFill>
          <a:ln w="12700">
            <a:solidFill>
              <a:srgbClr val="888888"/>
            </a:solidFill>
            <a:prstDash val="solid"/>
          </a:ln>
        </p:spPr>
        <p:txBody>
          <a:bodyPr/>
          <a:lstStyle/>
          <a:p>
            <a:endParaRPr lang="en-US"/>
          </a:p>
        </p:txBody>
      </p:sp>
      <p:sp>
        <p:nvSpPr>
          <p:cNvPr id="4" name="Shape 2"/>
          <p:cNvSpPr/>
          <p:nvPr/>
        </p:nvSpPr>
        <p:spPr>
          <a:xfrm>
            <a:off x="457200" y="1005840"/>
            <a:ext cx="3840480" cy="3383280"/>
          </a:xfrm>
          <a:prstGeom prst="roundRect">
            <a:avLst>
              <a:gd name="adj" fmla="val 2162"/>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5" name="Text 3"/>
          <p:cNvSpPr/>
          <p:nvPr/>
        </p:nvSpPr>
        <p:spPr>
          <a:xfrm>
            <a:off x="640080" y="1143000"/>
            <a:ext cx="548640" cy="548640"/>
          </a:xfrm>
          <a:prstGeom prst="rect">
            <a:avLst/>
          </a:prstGeom>
          <a:noFill/>
          <a:ln/>
        </p:spPr>
        <p:txBody>
          <a:bodyPr wrap="square" lIns="0" tIns="0" rIns="0" bIns="0" rtlCol="0" anchor="ctr"/>
          <a:lstStyle/>
          <a:p>
            <a:pPr marL="0" indent="0" algn="ctr">
              <a:buNone/>
            </a:pPr>
            <a:r>
              <a:rPr lang="en-US" sz="2800" b="1" dirty="0">
                <a:solidFill>
                  <a:srgbClr val="333333"/>
                </a:solidFill>
                <a:latin typeface="Arial" pitchFamily="34" charset="0"/>
                <a:ea typeface="Arial" pitchFamily="34" charset="-122"/>
                <a:cs typeface="Arial" pitchFamily="34" charset="-120"/>
              </a:rPr>
              <a:t>1</a:t>
            </a:r>
            <a:endParaRPr lang="en-US" sz="2800" dirty="0"/>
          </a:p>
        </p:txBody>
      </p:sp>
      <p:sp>
        <p:nvSpPr>
          <p:cNvPr id="6" name="Text 4"/>
          <p:cNvSpPr/>
          <p:nvPr/>
        </p:nvSpPr>
        <p:spPr>
          <a:xfrm>
            <a:off x="1234440" y="1188720"/>
            <a:ext cx="2926080" cy="502920"/>
          </a:xfrm>
          <a:prstGeom prst="rect">
            <a:avLst/>
          </a:prstGeom>
          <a:noFill/>
          <a:ln/>
        </p:spPr>
        <p:txBody>
          <a:bodyPr wrap="square" lIns="0" tIns="0" rIns="0" bIns="0" rtlCol="0" anchor="ctr"/>
          <a:lstStyle/>
          <a:p>
            <a:pPr marL="0" indent="0" algn="l">
              <a:buNone/>
            </a:pPr>
            <a:r>
              <a:rPr lang="en-US" sz="1600" b="1" dirty="0">
                <a:solidFill>
                  <a:srgbClr val="000000"/>
                </a:solidFill>
                <a:latin typeface="Arial" pitchFamily="34" charset="0"/>
                <a:ea typeface="Arial" pitchFamily="34" charset="-122"/>
                <a:cs typeface="Arial" pitchFamily="34" charset="-120"/>
              </a:rPr>
              <a:t>SNI warning</a:t>
            </a:r>
            <a:endParaRPr lang="en-US" sz="1600" dirty="0"/>
          </a:p>
        </p:txBody>
      </p:sp>
      <p:sp>
        <p:nvSpPr>
          <p:cNvPr id="7" name="Text 5"/>
          <p:cNvSpPr/>
          <p:nvPr/>
        </p:nvSpPr>
        <p:spPr>
          <a:xfrm>
            <a:off x="640080" y="1783080"/>
            <a:ext cx="3474720" cy="2377440"/>
          </a:xfrm>
          <a:prstGeom prst="rect">
            <a:avLst/>
          </a:prstGeom>
          <a:noFill/>
          <a:ln/>
        </p:spPr>
        <p:txBody>
          <a:bodyPr wrap="square" lIns="0" tIns="0" rIns="0" bIns="0" rtlCol="0" anchor="t"/>
          <a:lstStyle/>
          <a:p>
            <a:pPr marL="0" indent="0" algn="l">
              <a:buNone/>
            </a:pPr>
            <a:r>
              <a:rPr lang="en-US" sz="1350" dirty="0">
                <a:solidFill>
                  <a:srgbClr val="000000"/>
                </a:solidFill>
                <a:latin typeface="Arial" pitchFamily="34" charset="0"/>
                <a:ea typeface="Arial" pitchFamily="34" charset="-122"/>
                <a:cs typeface="Arial" pitchFamily="34" charset="-120"/>
              </a:rPr>
              <a:t>When SNI falls below 3.0, </a:t>
            </a:r>
            <a:r>
              <a:rPr lang="en-US" sz="1350" i="1" dirty="0">
                <a:solidFill>
                  <a:srgbClr val="000000"/>
                </a:solidFill>
                <a:latin typeface="Arial" pitchFamily="34" charset="0"/>
                <a:ea typeface="Arial" pitchFamily="34" charset="-122"/>
                <a:cs typeface="Arial" pitchFamily="34" charset="-120"/>
              </a:rPr>
              <a:t>CharAnalysis</a:t>
            </a:r>
            <a:r>
              <a:rPr lang="en-US" sz="1350" dirty="0">
                <a:solidFill>
                  <a:srgbClr val="000000"/>
                </a:solidFill>
                <a:latin typeface="Arial" pitchFamily="34" charset="0"/>
                <a:ea typeface="Arial" pitchFamily="34" charset="-122"/>
                <a:cs typeface="Arial" pitchFamily="34" charset="-120"/>
              </a:rPr>
              <a:t> now flags it explicitly in the console.</a:t>
            </a:r>
            <a:endParaRPr lang="en-US" sz="1350" dirty="0"/>
          </a:p>
          <a:p>
            <a:pPr marL="0" indent="0" algn="l">
              <a:buNone/>
            </a:pPr>
            <a:r>
              <a:rPr lang="en-US" sz="1350" dirty="0">
                <a:solidFill>
                  <a:srgbClr val="000000"/>
                </a:solidFill>
                <a:latin typeface="Arial" pitchFamily="34" charset="0"/>
                <a:ea typeface="Arial" pitchFamily="34" charset="-122"/>
                <a:cs typeface="Arial" pitchFamily="34" charset="-120"/>
              </a:rPr>
              <a:t> </a:t>
            </a:r>
            <a:endParaRPr lang="en-US" sz="1350" dirty="0"/>
          </a:p>
          <a:p>
            <a:pPr marL="0" indent="0" algn="l">
              <a:buNone/>
            </a:pPr>
            <a:r>
              <a:rPr lang="en-US" sz="1350" dirty="0">
                <a:solidFill>
                  <a:srgbClr val="000000"/>
                </a:solidFill>
                <a:latin typeface="Arial" pitchFamily="34" charset="0"/>
                <a:ea typeface="Arial" pitchFamily="34" charset="-122"/>
                <a:cs typeface="Arial" pitchFamily="34" charset="-120"/>
              </a:rPr>
              <a:t>The vignette's recommended workflow was rewritten to position SNI evaluation as Step 2, before any fire-history interpretation.</a:t>
            </a:r>
            <a:endParaRPr lang="en-US" sz="1350" dirty="0"/>
          </a:p>
        </p:txBody>
      </p:sp>
      <p:sp>
        <p:nvSpPr>
          <p:cNvPr id="8" name="Shape 6"/>
          <p:cNvSpPr/>
          <p:nvPr/>
        </p:nvSpPr>
        <p:spPr>
          <a:xfrm>
            <a:off x="4846320" y="1005840"/>
            <a:ext cx="3840480" cy="3383280"/>
          </a:xfrm>
          <a:prstGeom prst="roundRect">
            <a:avLst>
              <a:gd name="adj" fmla="val 2162"/>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9" name="Text 7"/>
          <p:cNvSpPr/>
          <p:nvPr/>
        </p:nvSpPr>
        <p:spPr>
          <a:xfrm>
            <a:off x="5029200" y="1143000"/>
            <a:ext cx="548640" cy="548640"/>
          </a:xfrm>
          <a:prstGeom prst="rect">
            <a:avLst/>
          </a:prstGeom>
          <a:noFill/>
          <a:ln/>
        </p:spPr>
        <p:txBody>
          <a:bodyPr wrap="square" lIns="0" tIns="0" rIns="0" bIns="0" rtlCol="0" anchor="ctr"/>
          <a:lstStyle/>
          <a:p>
            <a:pPr marL="0" indent="0" algn="ctr">
              <a:buNone/>
            </a:pPr>
            <a:r>
              <a:rPr lang="en-US" sz="2800" b="1" dirty="0">
                <a:solidFill>
                  <a:srgbClr val="333333"/>
                </a:solidFill>
                <a:latin typeface="Arial" pitchFamily="34" charset="0"/>
                <a:ea typeface="Arial" pitchFamily="34" charset="-122"/>
                <a:cs typeface="Arial" pitchFamily="34" charset="-120"/>
              </a:rPr>
              <a:t>2</a:t>
            </a:r>
            <a:endParaRPr lang="en-US" sz="2800" dirty="0"/>
          </a:p>
        </p:txBody>
      </p:sp>
      <p:sp>
        <p:nvSpPr>
          <p:cNvPr id="10" name="Text 8"/>
          <p:cNvSpPr/>
          <p:nvPr/>
        </p:nvSpPr>
        <p:spPr>
          <a:xfrm>
            <a:off x="5623560" y="1188720"/>
            <a:ext cx="2926080" cy="502920"/>
          </a:xfrm>
          <a:prstGeom prst="rect">
            <a:avLst/>
          </a:prstGeom>
          <a:noFill/>
          <a:ln/>
        </p:spPr>
        <p:txBody>
          <a:bodyPr wrap="square" lIns="0" tIns="0" rIns="0" bIns="0" rtlCol="0" anchor="ctr"/>
          <a:lstStyle/>
          <a:p>
            <a:pPr marL="0" indent="0" algn="l">
              <a:buNone/>
            </a:pPr>
            <a:r>
              <a:rPr lang="en-US" sz="1600" b="1" dirty="0">
                <a:solidFill>
                  <a:srgbClr val="000000"/>
                </a:solidFill>
                <a:latin typeface="Arial" pitchFamily="34" charset="0"/>
                <a:ea typeface="Arial" pitchFamily="34" charset="-122"/>
                <a:cs typeface="Arial" pitchFamily="34" charset="-120"/>
              </a:rPr>
              <a:t>Chronological uncertainty</a:t>
            </a:r>
            <a:endParaRPr lang="en-US" sz="1600" dirty="0"/>
          </a:p>
        </p:txBody>
      </p:sp>
      <p:sp>
        <p:nvSpPr>
          <p:cNvPr id="11" name="Text 9"/>
          <p:cNvSpPr/>
          <p:nvPr/>
        </p:nvSpPr>
        <p:spPr>
          <a:xfrm>
            <a:off x="5029200" y="1783080"/>
            <a:ext cx="3474720" cy="2377440"/>
          </a:xfrm>
          <a:prstGeom prst="rect">
            <a:avLst/>
          </a:prstGeom>
          <a:noFill/>
          <a:ln/>
        </p:spPr>
        <p:txBody>
          <a:bodyPr wrap="square" lIns="0" tIns="0" rIns="0" bIns="0" rtlCol="0" anchor="t"/>
          <a:lstStyle/>
          <a:p>
            <a:pPr marL="0" indent="0" algn="l">
              <a:buNone/>
            </a:pPr>
            <a:r>
              <a:rPr lang="en-US" sz="1350" dirty="0">
                <a:solidFill>
                  <a:srgbClr val="000000"/>
                </a:solidFill>
                <a:latin typeface="Arial" pitchFamily="34" charset="0"/>
                <a:ea typeface="Arial" pitchFamily="34" charset="-122"/>
                <a:cs typeface="Arial" pitchFamily="34" charset="-120"/>
              </a:rPr>
              <a:t>New ensemble pipeline: runs </a:t>
            </a:r>
            <a:r>
              <a:rPr lang="en-US" sz="1350" i="1" dirty="0">
                <a:solidFill>
                  <a:srgbClr val="000000"/>
                </a:solidFill>
                <a:latin typeface="Arial" pitchFamily="34" charset="0"/>
                <a:ea typeface="Arial" pitchFamily="34" charset="-122"/>
                <a:cs typeface="Arial" pitchFamily="34" charset="-120"/>
              </a:rPr>
              <a:t>CharAnalysis</a:t>
            </a:r>
            <a:r>
              <a:rPr lang="en-US" sz="1350" dirty="0">
                <a:solidFill>
                  <a:srgbClr val="000000"/>
                </a:solidFill>
                <a:latin typeface="Arial" pitchFamily="34" charset="0"/>
                <a:ea typeface="Arial" pitchFamily="34" charset="-122"/>
                <a:cs typeface="Arial" pitchFamily="34" charset="-120"/>
              </a:rPr>
              <a:t> 1,000× across MCMC chronologies, propagating age uncertainty through all analytical steps.</a:t>
            </a:r>
            <a:endParaRPr lang="en-US" sz="1350" dirty="0"/>
          </a:p>
          <a:p>
            <a:pPr marL="0" indent="0" algn="l">
              <a:buNone/>
            </a:pPr>
            <a:r>
              <a:rPr lang="en-US" sz="1350" dirty="0">
                <a:solidFill>
                  <a:srgbClr val="000000"/>
                </a:solidFill>
                <a:latin typeface="Arial" pitchFamily="34" charset="0"/>
                <a:ea typeface="Arial" pitchFamily="34" charset="-122"/>
                <a:cs typeface="Arial" pitchFamily="34" charset="-120"/>
              </a:rPr>
              <a:t> </a:t>
            </a:r>
            <a:endParaRPr lang="en-US" sz="1350" dirty="0"/>
          </a:p>
          <a:p>
            <a:pPr marL="0" indent="0" algn="l">
              <a:buNone/>
            </a:pPr>
            <a:r>
              <a:rPr lang="en-US" sz="1350" dirty="0">
                <a:solidFill>
                  <a:srgbClr val="000000"/>
                </a:solidFill>
                <a:latin typeface="Arial" pitchFamily="34" charset="0"/>
                <a:ea typeface="Arial" pitchFamily="34" charset="-122"/>
                <a:cs typeface="Arial" pitchFamily="34" charset="-120"/>
              </a:rPr>
              <a:t>Reports per-peak:</a:t>
            </a:r>
          </a:p>
          <a:p>
            <a:pPr marL="285750" indent="-285750" algn="l">
              <a:buFont typeface="Arial" panose="020B0604020202020204" pitchFamily="34" charset="0"/>
              <a:buChar char="•"/>
            </a:pPr>
            <a:r>
              <a:rPr lang="en-US" sz="1350" dirty="0">
                <a:solidFill>
                  <a:srgbClr val="000000"/>
                </a:solidFill>
                <a:latin typeface="Arial" pitchFamily="34" charset="0"/>
                <a:ea typeface="Arial" pitchFamily="34" charset="-122"/>
                <a:cs typeface="Arial" pitchFamily="34" charset="-120"/>
              </a:rPr>
              <a:t>Detection frequency</a:t>
            </a:r>
          </a:p>
          <a:p>
            <a:pPr marL="285750" indent="-285750" algn="l">
              <a:buFont typeface="Arial" panose="020B0604020202020204" pitchFamily="34" charset="0"/>
              <a:buChar char="•"/>
            </a:pPr>
            <a:r>
              <a:rPr lang="en-US" sz="1350" dirty="0">
                <a:solidFill>
                  <a:srgbClr val="000000"/>
                </a:solidFill>
                <a:latin typeface="Arial" pitchFamily="34" charset="0"/>
                <a:ea typeface="Arial" pitchFamily="34" charset="-122"/>
                <a:cs typeface="Arial" pitchFamily="34" charset="-120"/>
              </a:rPr>
              <a:t>Timing uncertainty (95% CI)</a:t>
            </a:r>
          </a:p>
          <a:p>
            <a:pPr marL="285750" indent="-285750" algn="l">
              <a:buFont typeface="Arial" panose="020B0604020202020204" pitchFamily="34" charset="0"/>
              <a:buChar char="•"/>
            </a:pPr>
            <a:r>
              <a:rPr lang="en-US" sz="1350" dirty="0">
                <a:solidFill>
                  <a:srgbClr val="000000"/>
                </a:solidFill>
                <a:latin typeface="Arial" pitchFamily="34" charset="0"/>
                <a:ea typeface="Arial" pitchFamily="34" charset="-122"/>
                <a:cs typeface="Arial" pitchFamily="34" charset="-120"/>
              </a:rPr>
              <a:t>Ensemble-only candidate peaks. </a:t>
            </a:r>
          </a:p>
          <a:p>
            <a:pPr marL="285750" indent="-285750" algn="l">
              <a:buFont typeface="Arial" panose="020B0604020202020204" pitchFamily="34" charset="0"/>
              <a:buChar char="•"/>
            </a:pPr>
            <a:endParaRPr lang="en-US" sz="1350" dirty="0">
              <a:solidFill>
                <a:srgbClr val="000000"/>
              </a:solidFill>
              <a:latin typeface="Arial" pitchFamily="34" charset="0"/>
              <a:ea typeface="Arial" pitchFamily="34" charset="-122"/>
              <a:cs typeface="Arial" pitchFamily="34" charset="-120"/>
            </a:endParaRPr>
          </a:p>
          <a:p>
            <a:pPr algn="l"/>
            <a:r>
              <a:rPr lang="en-US" sz="1350" dirty="0">
                <a:solidFill>
                  <a:srgbClr val="000000"/>
                </a:solidFill>
                <a:latin typeface="Arial" pitchFamily="34" charset="0"/>
                <a:ea typeface="Arial" pitchFamily="34" charset="-122"/>
                <a:cs typeface="Arial" pitchFamily="34" charset="-120"/>
              </a:rPr>
              <a:t>Examples from CO, CH10, and SI17.</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00000"/>
                </a:solidFill>
                <a:latin typeface="Arial" pitchFamily="34" charset="0"/>
                <a:ea typeface="Arial" pitchFamily="34" charset="-122"/>
                <a:cs typeface="Arial" pitchFamily="34" charset="-120"/>
              </a:rPr>
              <a:t>1. SNI warning:</a:t>
            </a:r>
            <a:endParaRPr lang="en-US" sz="2600" dirty="0"/>
          </a:p>
        </p:txBody>
      </p:sp>
      <p:sp>
        <p:nvSpPr>
          <p:cNvPr id="3" name="Shape 1"/>
          <p:cNvSpPr/>
          <p:nvPr/>
        </p:nvSpPr>
        <p:spPr>
          <a:xfrm>
            <a:off x="457200" y="850392"/>
            <a:ext cx="8229600" cy="36576"/>
          </a:xfrm>
          <a:prstGeom prst="rect">
            <a:avLst/>
          </a:prstGeom>
          <a:solidFill>
            <a:srgbClr val="888888"/>
          </a:solidFill>
          <a:ln w="12700">
            <a:solidFill>
              <a:srgbClr val="888888"/>
            </a:solidFill>
            <a:prstDash val="solid"/>
          </a:ln>
        </p:spPr>
        <p:txBody>
          <a:bodyPr/>
          <a:lstStyle/>
          <a:p>
            <a:endParaRPr lang="en-US"/>
          </a:p>
        </p:txBody>
      </p:sp>
      <p:sp>
        <p:nvSpPr>
          <p:cNvPr id="4" name="Text 2"/>
          <p:cNvSpPr/>
          <p:nvPr/>
        </p:nvSpPr>
        <p:spPr>
          <a:xfrm>
            <a:off x="548640" y="1150620"/>
            <a:ext cx="4114800" cy="3749040"/>
          </a:xfrm>
          <a:prstGeom prst="rect">
            <a:avLst/>
          </a:prstGeom>
          <a:noFill/>
          <a:ln/>
        </p:spPr>
        <p:txBody>
          <a:bodyPr wrap="square" lIns="0" tIns="0" rIns="0" bIns="0" rtlCol="0" anchor="t"/>
          <a:lstStyle/>
          <a:p>
            <a:pPr marL="0" indent="0" algn="l">
              <a:buNone/>
            </a:pPr>
            <a:r>
              <a:rPr lang="en-US" sz="1400" b="1" dirty="0">
                <a:solidFill>
                  <a:srgbClr val="333333"/>
                </a:solidFill>
                <a:latin typeface="Arial" pitchFamily="34" charset="0"/>
                <a:ea typeface="Arial" pitchFamily="34" charset="-122"/>
                <a:cs typeface="Arial" pitchFamily="34" charset="-120"/>
              </a:rPr>
              <a:t>Before</a:t>
            </a:r>
            <a:endParaRPr lang="en-US" sz="1400" dirty="0"/>
          </a:p>
          <a:p>
            <a:pPr marL="0" indent="0" algn="l">
              <a:buNone/>
            </a:pPr>
            <a:r>
              <a:rPr lang="en-US" sz="1400" dirty="0">
                <a:solidFill>
                  <a:srgbClr val="000000"/>
                </a:solidFill>
                <a:latin typeface="Arial" pitchFamily="34" charset="0"/>
                <a:ea typeface="Arial" pitchFamily="34" charset="-122"/>
                <a:cs typeface="Arial" pitchFamily="34" charset="-120"/>
              </a:rPr>
              <a:t>SNI was computed and plotted (Fig 4), but no message appeared if it fell below the threshold of 3.0. Users could overlook low-SNI intervals.</a:t>
            </a:r>
            <a:endParaRPr lang="en-US" sz="1400" dirty="0"/>
          </a:p>
          <a:p>
            <a:pPr marL="0" indent="0" algn="l">
              <a:buNone/>
            </a:pPr>
            <a:r>
              <a:rPr lang="en-US" sz="1400" dirty="0">
                <a:solidFill>
                  <a:srgbClr val="000000"/>
                </a:solidFill>
                <a:latin typeface="Arial" pitchFamily="34" charset="0"/>
                <a:ea typeface="Arial" pitchFamily="34" charset="-122"/>
                <a:cs typeface="Arial" pitchFamily="34" charset="-120"/>
              </a:rPr>
              <a:t> </a:t>
            </a:r>
            <a:endParaRPr lang="en-US" sz="1400" dirty="0"/>
          </a:p>
          <a:p>
            <a:pPr marL="0" indent="0" algn="l">
              <a:buNone/>
            </a:pPr>
            <a:r>
              <a:rPr lang="en-US" sz="1400" b="1" dirty="0">
                <a:solidFill>
                  <a:srgbClr val="000000"/>
                </a:solidFill>
                <a:latin typeface="Arial" pitchFamily="34" charset="0"/>
                <a:ea typeface="Arial" pitchFamily="34" charset="-122"/>
                <a:cs typeface="Arial" pitchFamily="34" charset="-120"/>
              </a:rPr>
              <a:t>After</a:t>
            </a:r>
            <a:endParaRPr lang="en-US" sz="1400" dirty="0"/>
          </a:p>
          <a:p>
            <a:pPr marL="0" indent="0" algn="l">
              <a:buNone/>
            </a:pPr>
            <a:r>
              <a:rPr lang="en-US" sz="1400" i="1" dirty="0" err="1">
                <a:solidFill>
                  <a:srgbClr val="000000"/>
                </a:solidFill>
                <a:latin typeface="Arial" pitchFamily="34" charset="0"/>
                <a:ea typeface="Arial" pitchFamily="34" charset="-122"/>
                <a:cs typeface="Arial" pitchFamily="34" charset="-120"/>
              </a:rPr>
              <a:t>CharAnalysis</a:t>
            </a:r>
            <a:r>
              <a:rPr lang="en-US" sz="1400" dirty="0">
                <a:solidFill>
                  <a:srgbClr val="000000"/>
                </a:solidFill>
                <a:latin typeface="Arial" pitchFamily="34" charset="0"/>
                <a:ea typeface="Arial" pitchFamily="34" charset="-122"/>
                <a:cs typeface="Arial" pitchFamily="34" charset="-120"/>
              </a:rPr>
              <a:t> now emits a styled red advisory at the end of all console output when SNI &lt; 3.0.</a:t>
            </a:r>
            <a:endParaRPr lang="en-US" sz="1400" dirty="0"/>
          </a:p>
          <a:p>
            <a:pPr marL="0" indent="0" algn="l">
              <a:buNone/>
            </a:pPr>
            <a:r>
              <a:rPr lang="en-US" sz="1400" dirty="0">
                <a:solidFill>
                  <a:srgbClr val="000000"/>
                </a:solidFill>
                <a:latin typeface="Arial" pitchFamily="34" charset="0"/>
                <a:ea typeface="Arial" pitchFamily="34" charset="-122"/>
                <a:cs typeface="Arial" pitchFamily="34" charset="-120"/>
              </a:rPr>
              <a:t> </a:t>
            </a:r>
            <a:endParaRPr lang="en-US" sz="1400" dirty="0"/>
          </a:p>
          <a:p>
            <a:pPr lvl="1"/>
            <a:r>
              <a:rPr lang="en-US" sz="1200" b="1" dirty="0">
                <a:solidFill>
                  <a:srgbClr val="000000"/>
                </a:solidFill>
                <a:latin typeface="Arial" pitchFamily="34" charset="0"/>
                <a:ea typeface="Arial" pitchFamily="34" charset="-122"/>
                <a:cs typeface="Arial" pitchFamily="34" charset="-120"/>
              </a:rPr>
              <a:t>Local thresholds: </a:t>
            </a:r>
            <a:r>
              <a:rPr lang="en-US" sz="1200" dirty="0">
                <a:solidFill>
                  <a:srgbClr val="000000"/>
                </a:solidFill>
                <a:latin typeface="Arial" pitchFamily="34" charset="0"/>
                <a:ea typeface="Arial" pitchFamily="34" charset="-122"/>
                <a:cs typeface="Arial" pitchFamily="34" charset="-120"/>
              </a:rPr>
              <a:t>reports % below threshold</a:t>
            </a:r>
          </a:p>
          <a:p>
            <a:pPr lvl="1"/>
            <a:endParaRPr lang="en-US" sz="1200" dirty="0"/>
          </a:p>
          <a:p>
            <a:pPr lvl="1"/>
            <a:r>
              <a:rPr lang="en-US" sz="1200" b="1" dirty="0">
                <a:solidFill>
                  <a:srgbClr val="000000"/>
                </a:solidFill>
                <a:latin typeface="Arial" pitchFamily="34" charset="0"/>
                <a:ea typeface="Arial" pitchFamily="34" charset="-122"/>
                <a:cs typeface="Arial" pitchFamily="34" charset="-120"/>
              </a:rPr>
              <a:t>Global threshold: </a:t>
            </a:r>
            <a:r>
              <a:rPr lang="en-US" sz="1200" dirty="0">
                <a:solidFill>
                  <a:srgbClr val="000000"/>
                </a:solidFill>
                <a:latin typeface="Arial" pitchFamily="34" charset="0"/>
                <a:ea typeface="Arial" pitchFamily="34" charset="-122"/>
                <a:cs typeface="Arial" pitchFamily="34" charset="-120"/>
              </a:rPr>
              <a:t>reports the scalar SNI value</a:t>
            </a:r>
            <a:endParaRPr lang="en-US" sz="1200" dirty="0"/>
          </a:p>
        </p:txBody>
      </p:sp>
      <p:sp>
        <p:nvSpPr>
          <p:cNvPr id="5" name="Shape 3"/>
          <p:cNvSpPr/>
          <p:nvPr/>
        </p:nvSpPr>
        <p:spPr>
          <a:xfrm>
            <a:off x="4846320" y="1150620"/>
            <a:ext cx="3931920" cy="2788920"/>
          </a:xfrm>
          <a:prstGeom prst="roundRect">
            <a:avLst>
              <a:gd name="adj" fmla="val 1951"/>
            </a:avLst>
          </a:prstGeom>
          <a:solidFill>
            <a:srgbClr val="1C2833"/>
          </a:solidFill>
          <a:ln w="12700">
            <a:solidFill>
              <a:srgbClr val="1C2833"/>
            </a:solidFill>
            <a:prstDash val="solid"/>
          </a:ln>
          <a:effectLst>
            <a:outerShdw blurRad="76200" dist="25400" dir="2700000" algn="bl" rotWithShape="0">
              <a:srgbClr val="000000">
                <a:alpha val="10000"/>
              </a:srgbClr>
            </a:outerShdw>
          </a:effectLst>
        </p:spPr>
        <p:txBody>
          <a:bodyPr/>
          <a:lstStyle/>
          <a:p>
            <a:endParaRPr lang="en-US"/>
          </a:p>
        </p:txBody>
      </p:sp>
      <p:sp>
        <p:nvSpPr>
          <p:cNvPr id="6" name="Text 4"/>
          <p:cNvSpPr/>
          <p:nvPr/>
        </p:nvSpPr>
        <p:spPr>
          <a:xfrm>
            <a:off x="4937760" y="1196340"/>
            <a:ext cx="1828800" cy="274320"/>
          </a:xfrm>
          <a:prstGeom prst="rect">
            <a:avLst/>
          </a:prstGeom>
          <a:noFill/>
          <a:ln/>
        </p:spPr>
        <p:txBody>
          <a:bodyPr wrap="square" lIns="0" tIns="0" rIns="0" bIns="0" rtlCol="0" anchor="t"/>
          <a:lstStyle/>
          <a:p>
            <a:pPr marL="0" indent="0" algn="l">
              <a:buNone/>
            </a:pPr>
            <a:r>
              <a:rPr lang="en-US" sz="1000" dirty="0">
                <a:solidFill>
                  <a:srgbClr val="6C8BA0"/>
                </a:solidFill>
                <a:latin typeface="Courier New" pitchFamily="34" charset="0"/>
                <a:ea typeface="Courier New" pitchFamily="34" charset="-122"/>
                <a:cs typeface="Courier New" pitchFamily="34" charset="-120"/>
              </a:rPr>
              <a:t>R Console</a:t>
            </a:r>
            <a:endParaRPr lang="en-US" sz="1000" dirty="0"/>
          </a:p>
        </p:txBody>
      </p:sp>
      <p:sp>
        <p:nvSpPr>
          <p:cNvPr id="7" name="Text 5"/>
          <p:cNvSpPr/>
          <p:nvPr/>
        </p:nvSpPr>
        <p:spPr>
          <a:xfrm>
            <a:off x="4937760" y="1562100"/>
            <a:ext cx="3703320" cy="2269236"/>
          </a:xfrm>
          <a:prstGeom prst="rect">
            <a:avLst/>
          </a:prstGeom>
          <a:noFill/>
          <a:ln/>
        </p:spPr>
        <p:txBody>
          <a:bodyPr wrap="square" lIns="0" tIns="0" rIns="0" bIns="0" rtlCol="0" anchor="t"/>
          <a:lstStyle/>
          <a:p>
            <a:pPr marL="0" indent="0" algn="l">
              <a:buNone/>
            </a:pPr>
            <a:r>
              <a:rPr lang="en-US" sz="1200" b="1" dirty="0">
                <a:solidFill>
                  <a:srgbClr val="E8604C"/>
                </a:solidFill>
                <a:latin typeface="Courier New" pitchFamily="34" charset="0"/>
                <a:ea typeface="Courier New" pitchFamily="34" charset="-122"/>
                <a:cs typeface="Courier New" pitchFamily="34" charset="-120"/>
              </a:rPr>
              <a:t>CAUTION</a:t>
            </a:r>
          </a:p>
          <a:p>
            <a:pPr marL="0" indent="0" algn="l">
              <a:buNone/>
            </a:pPr>
            <a:r>
              <a:rPr lang="en-US" sz="1200" b="1" dirty="0">
                <a:solidFill>
                  <a:srgbClr val="E8604C"/>
                </a:solidFill>
                <a:latin typeface="Courier New" pitchFamily="34" charset="0"/>
                <a:ea typeface="Courier New" pitchFamily="34" charset="-122"/>
                <a:cs typeface="Courier New" pitchFamily="34" charset="-120"/>
              </a:rPr>
              <a:t>✖ </a:t>
            </a:r>
            <a:r>
              <a:rPr lang="en-US" sz="1200" dirty="0">
                <a:solidFill>
                  <a:schemeClr val="bg1">
                    <a:lumMod val="65000"/>
                  </a:schemeClr>
                </a:solidFill>
                <a:latin typeface="Courier New" pitchFamily="34" charset="0"/>
                <a:ea typeface="Courier New" pitchFamily="34" charset="-122"/>
                <a:cs typeface="Courier New" pitchFamily="34" charset="-120"/>
              </a:rPr>
              <a:t>12.8% of samples have an SNI &lt; 3.0, the minimum value recommended by Kelly et al. (2011) to identify records suitable for peak detection. </a:t>
            </a:r>
            <a:r>
              <a:rPr lang="en-US" sz="1200" b="1" dirty="0">
                <a:solidFill>
                  <a:schemeClr val="bg1">
                    <a:lumMod val="65000"/>
                  </a:schemeClr>
                </a:solidFill>
                <a:latin typeface="Courier New" pitchFamily="34" charset="0"/>
                <a:ea typeface="Courier New" pitchFamily="34" charset="-122"/>
                <a:cs typeface="Courier New" pitchFamily="34" charset="-120"/>
              </a:rPr>
              <a:t>Carefully consider whether and how to interpret portions of this record with SNI &lt; 3.0.</a:t>
            </a:r>
          </a:p>
          <a:p>
            <a:pPr marL="0" indent="0" algn="l">
              <a:buNone/>
            </a:pPr>
            <a:endParaRPr lang="en-US" sz="1200" b="1" dirty="0">
              <a:solidFill>
                <a:schemeClr val="bg1">
                  <a:lumMod val="65000"/>
                </a:schemeClr>
              </a:solidFill>
              <a:latin typeface="Courier New" pitchFamily="34" charset="0"/>
              <a:ea typeface="Courier New" pitchFamily="34" charset="-122"/>
              <a:cs typeface="Courier New" pitchFamily="34" charset="-120"/>
            </a:endParaRPr>
          </a:p>
          <a:p>
            <a:pPr marL="0" indent="0" algn="l">
              <a:buNone/>
            </a:pPr>
            <a:r>
              <a:rPr lang="en-US" sz="1200" dirty="0">
                <a:solidFill>
                  <a:schemeClr val="bg1">
                    <a:lumMod val="65000"/>
                  </a:schemeClr>
                </a:solidFill>
                <a:latin typeface="Courier New" pitchFamily="34" charset="0"/>
                <a:ea typeface="Courier New" pitchFamily="34" charset="-122"/>
                <a:cs typeface="Courier New" pitchFamily="34" charset="-120"/>
              </a:rPr>
              <a:t>ℹ Run ‘</a:t>
            </a:r>
            <a:r>
              <a:rPr lang="en-US" sz="1200" dirty="0" err="1">
                <a:solidFill>
                  <a:schemeClr val="bg1">
                    <a:lumMod val="65000"/>
                  </a:schemeClr>
                </a:solidFill>
                <a:latin typeface="Courier New" pitchFamily="34" charset="0"/>
                <a:ea typeface="Courier New" pitchFamily="34" charset="-122"/>
                <a:cs typeface="Courier New" pitchFamily="34" charset="-120"/>
              </a:rPr>
              <a:t>char_plot_sni</a:t>
            </a:r>
            <a:r>
              <a:rPr lang="en-US" sz="1200" dirty="0">
                <a:solidFill>
                  <a:schemeClr val="bg1">
                    <a:lumMod val="65000"/>
                  </a:schemeClr>
                </a:solidFill>
                <a:latin typeface="Courier New" pitchFamily="34" charset="0"/>
                <a:ea typeface="Courier New" pitchFamily="34" charset="-122"/>
                <a:cs typeface="Courier New" pitchFamily="34" charset="-120"/>
              </a:rPr>
              <a:t>(out)’ to visualize the SNI series and identify which portion(s) of the record fall below the threshold.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00000"/>
                </a:solidFill>
                <a:latin typeface="Arial" pitchFamily="34" charset="0"/>
                <a:ea typeface="Arial" pitchFamily="34" charset="-122"/>
                <a:cs typeface="Arial" pitchFamily="34" charset="-120"/>
              </a:rPr>
              <a:t>Vignette: SNI evaluation before interpretation</a:t>
            </a:r>
            <a:endParaRPr lang="en-US" sz="2600" dirty="0"/>
          </a:p>
        </p:txBody>
      </p:sp>
      <p:sp>
        <p:nvSpPr>
          <p:cNvPr id="3" name="Shape 1"/>
          <p:cNvSpPr/>
          <p:nvPr/>
        </p:nvSpPr>
        <p:spPr>
          <a:xfrm>
            <a:off x="457200" y="850392"/>
            <a:ext cx="8229600" cy="36576"/>
          </a:xfrm>
          <a:prstGeom prst="rect">
            <a:avLst/>
          </a:prstGeom>
          <a:solidFill>
            <a:srgbClr val="888888"/>
          </a:solidFill>
          <a:ln w="12700">
            <a:solidFill>
              <a:srgbClr val="888888"/>
            </a:solidFill>
            <a:prstDash val="solid"/>
          </a:ln>
        </p:spPr>
        <p:txBody>
          <a:bodyPr/>
          <a:lstStyle/>
          <a:p>
            <a:endParaRPr lang="en-US"/>
          </a:p>
        </p:txBody>
      </p:sp>
      <p:sp>
        <p:nvSpPr>
          <p:cNvPr id="4" name="Shape 2"/>
          <p:cNvSpPr/>
          <p:nvPr/>
        </p:nvSpPr>
        <p:spPr>
          <a:xfrm>
            <a:off x="457200" y="960120"/>
            <a:ext cx="8229600" cy="941832"/>
          </a:xfrm>
          <a:prstGeom prst="roundRect">
            <a:avLst>
              <a:gd name="adj" fmla="val 7767"/>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594360" y="1188720"/>
            <a:ext cx="475488" cy="475488"/>
          </a:xfrm>
          <a:prstGeom prst="ellipse">
            <a:avLst/>
          </a:prstGeom>
          <a:solidFill>
            <a:srgbClr val="888888"/>
          </a:solidFill>
          <a:ln w="12700">
            <a:solidFill>
              <a:srgbClr val="888888"/>
            </a:solidFill>
            <a:prstDash val="solid"/>
          </a:ln>
        </p:spPr>
        <p:txBody>
          <a:bodyPr/>
          <a:lstStyle/>
          <a:p>
            <a:endParaRPr lang="en-US"/>
          </a:p>
        </p:txBody>
      </p:sp>
      <p:sp>
        <p:nvSpPr>
          <p:cNvPr id="6" name="Text 4"/>
          <p:cNvSpPr/>
          <p:nvPr/>
        </p:nvSpPr>
        <p:spPr>
          <a:xfrm>
            <a:off x="594360" y="1188720"/>
            <a:ext cx="475488" cy="475488"/>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207008" y="1033272"/>
            <a:ext cx="2560320" cy="365760"/>
          </a:xfrm>
          <a:prstGeom prst="rect">
            <a:avLst/>
          </a:prstGeom>
          <a:noFill/>
          <a:ln/>
        </p:spPr>
        <p:txBody>
          <a:bodyPr wrap="square" lIns="0" tIns="0" rIns="0" bIns="0" rtlCol="0" anchor="ctr"/>
          <a:lstStyle/>
          <a:p>
            <a:pPr marL="0" indent="0" algn="l">
              <a:buNone/>
            </a:pPr>
            <a:r>
              <a:rPr lang="en-US" sz="1400" b="1" dirty="0">
                <a:solidFill>
                  <a:srgbClr val="000000"/>
                </a:solidFill>
                <a:latin typeface="Arial" pitchFamily="34" charset="0"/>
                <a:ea typeface="Arial" pitchFamily="34" charset="-122"/>
                <a:cs typeface="Arial" pitchFamily="34" charset="-120"/>
              </a:rPr>
              <a:t>Background smoothing</a:t>
            </a:r>
            <a:endParaRPr lang="en-US" sz="1400" dirty="0"/>
          </a:p>
        </p:txBody>
      </p:sp>
      <p:sp>
        <p:nvSpPr>
          <p:cNvPr id="8" name="Text 6"/>
          <p:cNvSpPr/>
          <p:nvPr/>
        </p:nvSpPr>
        <p:spPr>
          <a:xfrm>
            <a:off x="1207008" y="1389888"/>
            <a:ext cx="7223760" cy="457200"/>
          </a:xfrm>
          <a:prstGeom prst="rect">
            <a:avLst/>
          </a:prstGeom>
          <a:noFill/>
          <a:ln/>
        </p:spPr>
        <p:txBody>
          <a:bodyPr wrap="square" lIns="0" tIns="0" rIns="0" bIns="0" rtlCol="0" anchor="t"/>
          <a:lstStyle/>
          <a:p>
            <a:pPr marL="0" indent="0" algn="l">
              <a:buNone/>
            </a:pPr>
            <a:r>
              <a:rPr lang="en-US" sz="1200" dirty="0">
                <a:solidFill>
                  <a:srgbClr val="000000"/>
                </a:solidFill>
                <a:latin typeface="Arial" pitchFamily="34" charset="0"/>
                <a:ea typeface="Arial" pitchFamily="34" charset="-122"/>
                <a:cs typeface="Arial" pitchFamily="34" charset="-120"/>
              </a:rPr>
              <a:t>Figs 1 &amp; 3: check that </a:t>
            </a:r>
            <a:r>
              <a:rPr lang="en-US" sz="1200" dirty="0" err="1">
                <a:solidFill>
                  <a:srgbClr val="000000"/>
                </a:solidFill>
                <a:latin typeface="Arial" pitchFamily="34" charset="0"/>
                <a:ea typeface="Arial" pitchFamily="34" charset="-122"/>
                <a:cs typeface="Arial" pitchFamily="34" charset="-120"/>
              </a:rPr>
              <a:t>C</a:t>
            </a:r>
            <a:r>
              <a:rPr lang="en-US" sz="1200" baseline="-25000" dirty="0" err="1">
                <a:solidFill>
                  <a:srgbClr val="000000"/>
                </a:solidFill>
                <a:latin typeface="Arial" pitchFamily="34" charset="0"/>
                <a:ea typeface="Arial" pitchFamily="34" charset="-122"/>
                <a:cs typeface="Arial" pitchFamily="34" charset="-120"/>
              </a:rPr>
              <a:t>background</a:t>
            </a:r>
            <a:r>
              <a:rPr lang="en-US" sz="1200" baseline="-25000" dirty="0">
                <a:solidFill>
                  <a:srgbClr val="000000"/>
                </a:solidFill>
                <a:latin typeface="Arial" pitchFamily="34" charset="0"/>
                <a:ea typeface="Arial" pitchFamily="34" charset="-122"/>
                <a:cs typeface="Arial" pitchFamily="34" charset="-120"/>
              </a:rPr>
              <a:t> </a:t>
            </a:r>
            <a:r>
              <a:rPr lang="en-US" sz="1200" dirty="0">
                <a:solidFill>
                  <a:srgbClr val="000000"/>
                </a:solidFill>
                <a:latin typeface="Arial" pitchFamily="34" charset="0"/>
                <a:ea typeface="Arial" pitchFamily="34" charset="-122"/>
                <a:cs typeface="Arial" pitchFamily="34" charset="-120"/>
              </a:rPr>
              <a:t>tracks low-frequency variation without absorbing peaks. Adjust smoothing window as needed.</a:t>
            </a:r>
            <a:endParaRPr lang="en-US" sz="1200" dirty="0"/>
          </a:p>
        </p:txBody>
      </p:sp>
      <p:sp>
        <p:nvSpPr>
          <p:cNvPr id="9" name="Shape 7"/>
          <p:cNvSpPr/>
          <p:nvPr/>
        </p:nvSpPr>
        <p:spPr>
          <a:xfrm>
            <a:off x="457200" y="1956816"/>
            <a:ext cx="8229600" cy="941832"/>
          </a:xfrm>
          <a:prstGeom prst="roundRect">
            <a:avLst>
              <a:gd name="adj" fmla="val 7767"/>
            </a:avLst>
          </a:prstGeom>
          <a:solidFill>
            <a:schemeClr val="bg1">
              <a:lumMod val="95000"/>
            </a:schemeClr>
          </a:solidFill>
          <a:ln w="12700">
            <a:solidFill>
              <a:srgbClr val="333333"/>
            </a:solidFill>
            <a:prstDash val="solid"/>
          </a:ln>
          <a:effectLst>
            <a:outerShdw blurRad="76200" dist="25400" dir="2700000" algn="bl" rotWithShape="0">
              <a:srgbClr val="000000">
                <a:alpha val="10000"/>
              </a:srgbClr>
            </a:outerShdw>
          </a:effectLst>
        </p:spPr>
        <p:txBody>
          <a:bodyPr/>
          <a:lstStyle/>
          <a:p>
            <a:endParaRPr lang="en-US"/>
          </a:p>
        </p:txBody>
      </p:sp>
      <p:sp>
        <p:nvSpPr>
          <p:cNvPr id="10" name="Shape 8"/>
          <p:cNvSpPr/>
          <p:nvPr/>
        </p:nvSpPr>
        <p:spPr>
          <a:xfrm>
            <a:off x="594360" y="2185416"/>
            <a:ext cx="475488" cy="475488"/>
          </a:xfrm>
          <a:prstGeom prst="ellipse">
            <a:avLst/>
          </a:prstGeom>
          <a:solidFill>
            <a:schemeClr val="accent1">
              <a:lumMod val="60000"/>
              <a:lumOff val="40000"/>
            </a:schemeClr>
          </a:solidFill>
          <a:ln w="12700">
            <a:solidFill>
              <a:srgbClr val="333333"/>
            </a:solidFill>
            <a:prstDash val="solid"/>
          </a:ln>
        </p:spPr>
        <p:txBody>
          <a:bodyPr/>
          <a:lstStyle/>
          <a:p>
            <a:endParaRPr lang="en-US"/>
          </a:p>
        </p:txBody>
      </p:sp>
      <p:sp>
        <p:nvSpPr>
          <p:cNvPr id="11" name="Text 9"/>
          <p:cNvSpPr/>
          <p:nvPr/>
        </p:nvSpPr>
        <p:spPr>
          <a:xfrm>
            <a:off x="594360" y="2185416"/>
            <a:ext cx="475488" cy="475488"/>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207008" y="2029968"/>
            <a:ext cx="2560320" cy="365760"/>
          </a:xfrm>
          <a:prstGeom prst="rect">
            <a:avLst/>
          </a:prstGeom>
          <a:noFill/>
          <a:ln/>
        </p:spPr>
        <p:txBody>
          <a:bodyPr wrap="square" lIns="0" tIns="0" rIns="0" bIns="0" rtlCol="0" anchor="ctr"/>
          <a:lstStyle/>
          <a:p>
            <a:pPr marL="0" indent="0" algn="l">
              <a:buNone/>
            </a:pPr>
            <a:r>
              <a:rPr lang="en-US" sz="1400" b="1" dirty="0">
                <a:solidFill>
                  <a:srgbClr val="333333"/>
                </a:solidFill>
                <a:latin typeface="Arial" pitchFamily="34" charset="0"/>
                <a:ea typeface="Arial" pitchFamily="34" charset="-122"/>
                <a:cs typeface="Arial" pitchFamily="34" charset="-120"/>
              </a:rPr>
              <a:t>Evaluate signal quality (SNI)</a:t>
            </a:r>
            <a:endParaRPr lang="en-US" sz="1400" dirty="0"/>
          </a:p>
        </p:txBody>
      </p:sp>
      <p:sp>
        <p:nvSpPr>
          <p:cNvPr id="13" name="Text 11"/>
          <p:cNvSpPr/>
          <p:nvPr/>
        </p:nvSpPr>
        <p:spPr>
          <a:xfrm>
            <a:off x="1207008" y="2386584"/>
            <a:ext cx="7223760" cy="457200"/>
          </a:xfrm>
          <a:prstGeom prst="rect">
            <a:avLst/>
          </a:prstGeom>
          <a:noFill/>
          <a:ln/>
        </p:spPr>
        <p:txBody>
          <a:bodyPr wrap="square" lIns="0" tIns="0" rIns="0" bIns="0" rtlCol="0" anchor="t"/>
          <a:lstStyle/>
          <a:p>
            <a:pPr marL="0" indent="0" algn="l">
              <a:buNone/>
            </a:pPr>
            <a:r>
              <a:rPr lang="en-US" sz="1200" dirty="0">
                <a:solidFill>
                  <a:srgbClr val="000000"/>
                </a:solidFill>
                <a:latin typeface="Arial" pitchFamily="34" charset="0"/>
                <a:ea typeface="Arial" pitchFamily="34" charset="-122"/>
                <a:cs typeface="Arial" pitchFamily="34" charset="-120"/>
              </a:rPr>
              <a:t>Fig 4: inspect SNI before any fire-history results. If SNI &lt; 3 for substantial portions, peak detection in those intervals is not well justified.</a:t>
            </a:r>
            <a:endParaRPr lang="en-US" sz="1200" dirty="0"/>
          </a:p>
        </p:txBody>
      </p:sp>
      <p:sp>
        <p:nvSpPr>
          <p:cNvPr id="14" name="Shape 12"/>
          <p:cNvSpPr/>
          <p:nvPr/>
        </p:nvSpPr>
        <p:spPr>
          <a:xfrm>
            <a:off x="457200" y="2953512"/>
            <a:ext cx="8229600" cy="941832"/>
          </a:xfrm>
          <a:prstGeom prst="roundRect">
            <a:avLst>
              <a:gd name="adj" fmla="val 7767"/>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15" name="Shape 13"/>
          <p:cNvSpPr/>
          <p:nvPr/>
        </p:nvSpPr>
        <p:spPr>
          <a:xfrm>
            <a:off x="594360" y="3182112"/>
            <a:ext cx="475488" cy="475488"/>
          </a:xfrm>
          <a:prstGeom prst="ellipse">
            <a:avLst/>
          </a:prstGeom>
          <a:solidFill>
            <a:srgbClr val="888888"/>
          </a:solidFill>
          <a:ln w="12700">
            <a:solidFill>
              <a:srgbClr val="888888"/>
            </a:solidFill>
            <a:prstDash val="solid"/>
          </a:ln>
        </p:spPr>
        <p:txBody>
          <a:bodyPr/>
          <a:lstStyle/>
          <a:p>
            <a:endParaRPr lang="en-US"/>
          </a:p>
        </p:txBody>
      </p:sp>
      <p:sp>
        <p:nvSpPr>
          <p:cNvPr id="16" name="Text 14"/>
          <p:cNvSpPr/>
          <p:nvPr/>
        </p:nvSpPr>
        <p:spPr>
          <a:xfrm>
            <a:off x="594360" y="3182112"/>
            <a:ext cx="475488" cy="475488"/>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207008" y="3026664"/>
            <a:ext cx="2560320" cy="365760"/>
          </a:xfrm>
          <a:prstGeom prst="rect">
            <a:avLst/>
          </a:prstGeom>
          <a:noFill/>
          <a:ln/>
        </p:spPr>
        <p:txBody>
          <a:bodyPr wrap="square" lIns="0" tIns="0" rIns="0" bIns="0" rtlCol="0" anchor="ctr"/>
          <a:lstStyle/>
          <a:p>
            <a:pPr marL="0" indent="0" algn="l">
              <a:buNone/>
            </a:pPr>
            <a:r>
              <a:rPr lang="en-US" sz="1400" b="1" dirty="0">
                <a:solidFill>
                  <a:srgbClr val="000000"/>
                </a:solidFill>
                <a:latin typeface="Arial" pitchFamily="34" charset="0"/>
                <a:ea typeface="Arial" pitchFamily="34" charset="-122"/>
                <a:cs typeface="Arial" pitchFamily="34" charset="-120"/>
              </a:rPr>
              <a:t>Threshold diagnostics</a:t>
            </a:r>
            <a:endParaRPr lang="en-US" sz="1400" dirty="0"/>
          </a:p>
        </p:txBody>
      </p:sp>
      <p:sp>
        <p:nvSpPr>
          <p:cNvPr id="18" name="Text 16"/>
          <p:cNvSpPr/>
          <p:nvPr/>
        </p:nvSpPr>
        <p:spPr>
          <a:xfrm>
            <a:off x="1207008" y="3383280"/>
            <a:ext cx="7223760" cy="457200"/>
          </a:xfrm>
          <a:prstGeom prst="rect">
            <a:avLst/>
          </a:prstGeom>
          <a:noFill/>
          <a:ln/>
        </p:spPr>
        <p:txBody>
          <a:bodyPr wrap="square" lIns="0" tIns="0" rIns="0" bIns="0" rtlCol="0" anchor="t"/>
          <a:lstStyle/>
          <a:p>
            <a:pPr marL="0" indent="0" algn="l">
              <a:buNone/>
            </a:pPr>
            <a:r>
              <a:rPr lang="en-US" sz="1200" dirty="0">
                <a:solidFill>
                  <a:srgbClr val="000000"/>
                </a:solidFill>
                <a:latin typeface="Arial" pitchFamily="34" charset="0"/>
                <a:ea typeface="Arial" pitchFamily="34" charset="-122"/>
                <a:cs typeface="Arial" pitchFamily="34" charset="-120"/>
              </a:rPr>
              <a:t>Fig 2: examine fit of noise model to </a:t>
            </a:r>
            <a:r>
              <a:rPr lang="en-US" sz="1200" dirty="0" err="1">
                <a:solidFill>
                  <a:srgbClr val="000000"/>
                </a:solidFill>
                <a:latin typeface="Arial" pitchFamily="34" charset="0"/>
                <a:ea typeface="Arial" pitchFamily="34" charset="-122"/>
                <a:cs typeface="Arial" pitchFamily="34" charset="-120"/>
              </a:rPr>
              <a:t>C</a:t>
            </a:r>
            <a:r>
              <a:rPr lang="en-US" sz="1200" baseline="-25000" dirty="0" err="1">
                <a:solidFill>
                  <a:srgbClr val="000000"/>
                </a:solidFill>
                <a:latin typeface="Arial" pitchFamily="34" charset="0"/>
                <a:ea typeface="Arial" pitchFamily="34" charset="-122"/>
                <a:cs typeface="Arial" pitchFamily="34" charset="-120"/>
              </a:rPr>
              <a:t>peak</a:t>
            </a:r>
            <a:r>
              <a:rPr lang="en-US" sz="1200" dirty="0">
                <a:solidFill>
                  <a:srgbClr val="000000"/>
                </a:solidFill>
                <a:latin typeface="Arial" pitchFamily="34" charset="0"/>
                <a:ea typeface="Arial" pitchFamily="34" charset="-122"/>
                <a:cs typeface="Arial" pitchFamily="34" charset="-120"/>
              </a:rPr>
              <a:t> distribution. Most useful when Fig 4 suggests instability.</a:t>
            </a:r>
            <a:endParaRPr lang="en-US" sz="1200" dirty="0"/>
          </a:p>
        </p:txBody>
      </p:sp>
      <p:sp>
        <p:nvSpPr>
          <p:cNvPr id="19" name="Shape 17"/>
          <p:cNvSpPr/>
          <p:nvPr/>
        </p:nvSpPr>
        <p:spPr>
          <a:xfrm>
            <a:off x="457200" y="3950208"/>
            <a:ext cx="8229600" cy="941832"/>
          </a:xfrm>
          <a:prstGeom prst="roundRect">
            <a:avLst>
              <a:gd name="adj" fmla="val 7767"/>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20" name="Shape 18"/>
          <p:cNvSpPr/>
          <p:nvPr/>
        </p:nvSpPr>
        <p:spPr>
          <a:xfrm>
            <a:off x="594360" y="4178808"/>
            <a:ext cx="475488" cy="475488"/>
          </a:xfrm>
          <a:prstGeom prst="ellipse">
            <a:avLst/>
          </a:prstGeom>
          <a:solidFill>
            <a:srgbClr val="888888"/>
          </a:solidFill>
          <a:ln w="12700">
            <a:solidFill>
              <a:srgbClr val="888888"/>
            </a:solidFill>
            <a:prstDash val="solid"/>
          </a:ln>
        </p:spPr>
        <p:txBody>
          <a:bodyPr/>
          <a:lstStyle/>
          <a:p>
            <a:endParaRPr lang="en-US"/>
          </a:p>
        </p:txBody>
      </p:sp>
      <p:sp>
        <p:nvSpPr>
          <p:cNvPr id="21" name="Text 19"/>
          <p:cNvSpPr/>
          <p:nvPr/>
        </p:nvSpPr>
        <p:spPr>
          <a:xfrm>
            <a:off x="594360" y="4178808"/>
            <a:ext cx="475488" cy="475488"/>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207008" y="4023360"/>
            <a:ext cx="2560320" cy="365760"/>
          </a:xfrm>
          <a:prstGeom prst="rect">
            <a:avLst/>
          </a:prstGeom>
          <a:noFill/>
          <a:ln/>
        </p:spPr>
        <p:txBody>
          <a:bodyPr wrap="square" lIns="0" tIns="0" rIns="0" bIns="0" rtlCol="0" anchor="ctr"/>
          <a:lstStyle/>
          <a:p>
            <a:pPr marL="0" indent="0" algn="l">
              <a:buNone/>
            </a:pPr>
            <a:r>
              <a:rPr lang="en-US" sz="1400" b="1" dirty="0">
                <a:solidFill>
                  <a:srgbClr val="000000"/>
                </a:solidFill>
                <a:latin typeface="Arial" pitchFamily="34" charset="0"/>
                <a:ea typeface="Arial" pitchFamily="34" charset="-122"/>
                <a:cs typeface="Arial" pitchFamily="34" charset="-120"/>
              </a:rPr>
              <a:t>Analytical figures</a:t>
            </a:r>
            <a:endParaRPr lang="en-US" sz="1400" dirty="0"/>
          </a:p>
        </p:txBody>
      </p:sp>
      <p:sp>
        <p:nvSpPr>
          <p:cNvPr id="23" name="Text 21"/>
          <p:cNvSpPr/>
          <p:nvPr/>
        </p:nvSpPr>
        <p:spPr>
          <a:xfrm>
            <a:off x="1207008" y="4379976"/>
            <a:ext cx="7223760" cy="457200"/>
          </a:xfrm>
          <a:prstGeom prst="rect">
            <a:avLst/>
          </a:prstGeom>
          <a:noFill/>
          <a:ln/>
        </p:spPr>
        <p:txBody>
          <a:bodyPr wrap="square" lIns="0" tIns="0" rIns="0" bIns="0" rtlCol="0" anchor="t"/>
          <a:lstStyle/>
          <a:p>
            <a:pPr marL="0" indent="0" algn="l">
              <a:buNone/>
            </a:pPr>
            <a:r>
              <a:rPr lang="en-US" sz="1200" dirty="0">
                <a:solidFill>
                  <a:srgbClr val="000000"/>
                </a:solidFill>
                <a:latin typeface="Arial" pitchFamily="34" charset="0"/>
                <a:ea typeface="Arial" pitchFamily="34" charset="-122"/>
                <a:cs typeface="Arial" pitchFamily="34" charset="-120"/>
              </a:rPr>
              <a:t>Figs 6–9: zone comparisons, cumulative peaks, FRI distributions, fire history. Only after diagnostics are acceptable.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00000"/>
                </a:solidFill>
                <a:latin typeface="Arial" pitchFamily="34" charset="0"/>
                <a:ea typeface="Arial" pitchFamily="34" charset="-122"/>
                <a:cs typeface="Arial" pitchFamily="34" charset="-120"/>
              </a:rPr>
              <a:t>2. Chronological uncertainty</a:t>
            </a:r>
            <a:endParaRPr lang="en-US" sz="2600" dirty="0"/>
          </a:p>
        </p:txBody>
      </p:sp>
      <p:sp>
        <p:nvSpPr>
          <p:cNvPr id="3" name="Shape 1"/>
          <p:cNvSpPr/>
          <p:nvPr/>
        </p:nvSpPr>
        <p:spPr>
          <a:xfrm>
            <a:off x="457200" y="850392"/>
            <a:ext cx="8229600" cy="36576"/>
          </a:xfrm>
          <a:prstGeom prst="rect">
            <a:avLst/>
          </a:prstGeom>
          <a:solidFill>
            <a:srgbClr val="888888"/>
          </a:solidFill>
          <a:ln w="12700">
            <a:solidFill>
              <a:srgbClr val="888888"/>
            </a:solidFill>
            <a:prstDash val="solid"/>
          </a:ln>
        </p:spPr>
        <p:txBody>
          <a:bodyPr/>
          <a:lstStyle/>
          <a:p>
            <a:endParaRPr lang="en-US"/>
          </a:p>
        </p:txBody>
      </p:sp>
      <p:sp>
        <p:nvSpPr>
          <p:cNvPr id="4" name="Text 2"/>
          <p:cNvSpPr/>
          <p:nvPr/>
        </p:nvSpPr>
        <p:spPr>
          <a:xfrm>
            <a:off x="548640" y="1005840"/>
            <a:ext cx="4937760" cy="3749040"/>
          </a:xfrm>
          <a:prstGeom prst="rect">
            <a:avLst/>
          </a:prstGeom>
          <a:noFill/>
          <a:ln/>
        </p:spPr>
        <p:txBody>
          <a:bodyPr wrap="square" lIns="0" tIns="0" rIns="0" bIns="0" rtlCol="0" anchor="t"/>
          <a:lstStyle/>
          <a:p>
            <a:r>
              <a:rPr lang="en-US" sz="1400" b="1" i="1" dirty="0" err="1">
                <a:solidFill>
                  <a:srgbClr val="000000"/>
                </a:solidFill>
                <a:latin typeface="Arial" pitchFamily="34" charset="0"/>
                <a:ea typeface="Arial" pitchFamily="34" charset="-122"/>
                <a:cs typeface="Arial" pitchFamily="34" charset="-120"/>
              </a:rPr>
              <a:t>CharAnalysis</a:t>
            </a:r>
            <a:r>
              <a:rPr lang="en-US" sz="1400" b="1" i="1" dirty="0">
                <a:solidFill>
                  <a:srgbClr val="000000"/>
                </a:solidFill>
                <a:latin typeface="Arial" pitchFamily="34" charset="0"/>
                <a:ea typeface="Arial" pitchFamily="34" charset="-122"/>
                <a:cs typeface="Arial" pitchFamily="34" charset="-120"/>
              </a:rPr>
              <a:t> </a:t>
            </a:r>
            <a:r>
              <a:rPr lang="en-US" sz="1400" b="1" dirty="0">
                <a:solidFill>
                  <a:srgbClr val="000000"/>
                </a:solidFill>
                <a:latin typeface="Arial" pitchFamily="34" charset="0"/>
                <a:ea typeface="Arial" pitchFamily="34" charset="-122"/>
                <a:cs typeface="Arial" pitchFamily="34" charset="-120"/>
              </a:rPr>
              <a:t>alone does not propagate uncertainty from an age-depth model into peak detection </a:t>
            </a:r>
            <a:r>
              <a:rPr lang="en-US" sz="1400" dirty="0">
                <a:solidFill>
                  <a:srgbClr val="000000"/>
                </a:solidFill>
                <a:latin typeface="Arial" pitchFamily="34" charset="0"/>
                <a:ea typeface="Arial" pitchFamily="34" charset="-122"/>
                <a:cs typeface="Arial" pitchFamily="34" charset="-120"/>
              </a:rPr>
              <a:t>because it uses one age-depth model (e.g., median chronology).</a:t>
            </a:r>
            <a:endParaRPr lang="en-US" sz="1400" dirty="0"/>
          </a:p>
          <a:p>
            <a:pPr marL="0" indent="0" algn="l">
              <a:buNone/>
            </a:pPr>
            <a:r>
              <a:rPr lang="en-US" sz="1400" dirty="0">
                <a:solidFill>
                  <a:srgbClr val="000000"/>
                </a:solidFill>
                <a:latin typeface="Arial" pitchFamily="34" charset="0"/>
                <a:ea typeface="Arial" pitchFamily="34" charset="-122"/>
                <a:cs typeface="Arial" pitchFamily="34" charset="-120"/>
              </a:rPr>
              <a:t> </a:t>
            </a:r>
            <a:endParaRPr lang="en-US" sz="1400" dirty="0"/>
          </a:p>
          <a:p>
            <a:pPr marL="0" indent="0" algn="l">
              <a:buNone/>
            </a:pPr>
            <a:r>
              <a:rPr lang="en-US" sz="1400" dirty="0">
                <a:solidFill>
                  <a:srgbClr val="000000"/>
                </a:solidFill>
                <a:latin typeface="Arial" pitchFamily="34" charset="0"/>
                <a:ea typeface="Arial" pitchFamily="34" charset="-122"/>
                <a:cs typeface="Arial" pitchFamily="34" charset="-120"/>
              </a:rPr>
              <a:t>Bayesian age-depth models (rbacon, MCAgeDepth) generate thousands of plausible chronologies via MCMC sampling. Each shifts sample ages and thus accumulation rates, CHAR, thresholds, and peak detection outcomes.</a:t>
            </a:r>
            <a:endParaRPr lang="en-US" sz="1400" dirty="0"/>
          </a:p>
          <a:p>
            <a:pPr marL="0" indent="0" algn="l">
              <a:buNone/>
            </a:pPr>
            <a:r>
              <a:rPr lang="en-US" sz="1400" dirty="0">
                <a:solidFill>
                  <a:srgbClr val="000000"/>
                </a:solidFill>
                <a:latin typeface="Arial" pitchFamily="34" charset="0"/>
                <a:ea typeface="Arial" pitchFamily="34" charset="-122"/>
                <a:cs typeface="Arial" pitchFamily="34" charset="-120"/>
              </a:rPr>
              <a:t> </a:t>
            </a:r>
            <a:endParaRPr lang="en-US" sz="1400" dirty="0"/>
          </a:p>
          <a:p>
            <a:pPr marL="0" indent="0" algn="l">
              <a:buNone/>
            </a:pPr>
            <a:r>
              <a:rPr lang="en-US" sz="1600" b="1" dirty="0">
                <a:solidFill>
                  <a:srgbClr val="000000"/>
                </a:solidFill>
                <a:latin typeface="Arial" pitchFamily="34" charset="0"/>
                <a:ea typeface="Arial" pitchFamily="34" charset="-122"/>
                <a:cs typeface="Arial" pitchFamily="34" charset="-120"/>
              </a:rPr>
              <a:t>This tool integrates chronological uncertainty to address three questions:</a:t>
            </a:r>
            <a:endParaRPr lang="en-US" sz="1600" dirty="0"/>
          </a:p>
          <a:p>
            <a:pPr marL="342900" indent="-342900">
              <a:buSzPct val="100000"/>
              <a:buFont typeface="+mj-lt"/>
              <a:buAutoNum type="arabicPeriod"/>
            </a:pPr>
            <a:r>
              <a:rPr lang="en-US" sz="1400" dirty="0">
                <a:solidFill>
                  <a:srgbClr val="000000"/>
                </a:solidFill>
                <a:latin typeface="Arial" pitchFamily="34" charset="0"/>
                <a:ea typeface="Arial" pitchFamily="34" charset="-122"/>
                <a:cs typeface="Arial" pitchFamily="34" charset="-120"/>
              </a:rPr>
              <a:t>How consistently is each peak detected?</a:t>
            </a:r>
          </a:p>
          <a:p>
            <a:pPr marL="342900" indent="-342900">
              <a:buSzPct val="100000"/>
              <a:buFont typeface="+mj-lt"/>
              <a:buAutoNum type="arabicPeriod"/>
            </a:pPr>
            <a:endParaRPr lang="en-US" sz="1400" dirty="0"/>
          </a:p>
          <a:p>
            <a:pPr marL="342900" indent="-342900">
              <a:buSzPct val="100000"/>
              <a:buFont typeface="+mj-lt"/>
              <a:buAutoNum type="arabicPeriod"/>
            </a:pPr>
            <a:r>
              <a:rPr lang="en-US" sz="1400" dirty="0">
                <a:solidFill>
                  <a:srgbClr val="000000"/>
                </a:solidFill>
                <a:latin typeface="Arial" pitchFamily="34" charset="0"/>
                <a:ea typeface="Arial" pitchFamily="34" charset="-122"/>
                <a:cs typeface="Arial" pitchFamily="34" charset="-120"/>
              </a:rPr>
              <a:t>What is the 95% CI on the age of specific peaks?</a:t>
            </a:r>
            <a:endParaRPr lang="en-US" sz="1400" dirty="0"/>
          </a:p>
          <a:p>
            <a:pPr marL="342900" indent="-342900">
              <a:buSzPct val="100000"/>
              <a:buFont typeface="+mj-lt"/>
              <a:buAutoNum type="arabicPeriod"/>
            </a:pPr>
            <a:endParaRPr lang="en-US" sz="1400" dirty="0">
              <a:solidFill>
                <a:srgbClr val="000000"/>
              </a:solidFill>
              <a:latin typeface="Arial" pitchFamily="34" charset="0"/>
              <a:ea typeface="Arial" pitchFamily="34" charset="-122"/>
              <a:cs typeface="Arial" pitchFamily="34" charset="-120"/>
            </a:endParaRPr>
          </a:p>
          <a:p>
            <a:pPr marL="342900" indent="-342900">
              <a:buSzPct val="100000"/>
              <a:buFont typeface="+mj-lt"/>
              <a:buAutoNum type="arabicPeriod"/>
            </a:pPr>
            <a:r>
              <a:rPr lang="en-US" sz="1400" dirty="0">
                <a:solidFill>
                  <a:srgbClr val="000000"/>
                </a:solidFill>
                <a:latin typeface="Arial" pitchFamily="34" charset="0"/>
                <a:ea typeface="Arial" pitchFamily="34" charset="-122"/>
                <a:cs typeface="Arial" pitchFamily="34" charset="-120"/>
              </a:rPr>
              <a:t>Are there peaks common in the ensemble but absent from the main </a:t>
            </a:r>
            <a:r>
              <a:rPr lang="en-US" sz="1400" i="1" dirty="0" err="1">
                <a:solidFill>
                  <a:srgbClr val="000000"/>
                </a:solidFill>
                <a:latin typeface="Arial" pitchFamily="34" charset="0"/>
                <a:ea typeface="Arial" pitchFamily="34" charset="-122"/>
                <a:cs typeface="Arial" pitchFamily="34" charset="-120"/>
              </a:rPr>
              <a:t>CharAnalysis</a:t>
            </a:r>
            <a:r>
              <a:rPr lang="en-US" sz="1400" i="1" dirty="0">
                <a:solidFill>
                  <a:srgbClr val="000000"/>
                </a:solidFill>
                <a:latin typeface="Arial" pitchFamily="34" charset="0"/>
                <a:ea typeface="Arial" pitchFamily="34" charset="-122"/>
                <a:cs typeface="Arial" pitchFamily="34" charset="-120"/>
              </a:rPr>
              <a:t> </a:t>
            </a:r>
            <a:r>
              <a:rPr lang="en-US" sz="1400" dirty="0">
                <a:solidFill>
                  <a:srgbClr val="000000"/>
                </a:solidFill>
                <a:latin typeface="Arial" pitchFamily="34" charset="0"/>
                <a:ea typeface="Arial" pitchFamily="34" charset="-122"/>
                <a:cs typeface="Arial" pitchFamily="34" charset="-120"/>
              </a:rPr>
              <a:t>run?</a:t>
            </a:r>
            <a:endParaRPr lang="en-US" sz="1400" dirty="0"/>
          </a:p>
        </p:txBody>
      </p:sp>
      <p:grpSp>
        <p:nvGrpSpPr>
          <p:cNvPr id="10" name="Group 9">
            <a:extLst>
              <a:ext uri="{FF2B5EF4-FFF2-40B4-BE49-F238E27FC236}">
                <a16:creationId xmlns:a16="http://schemas.microsoft.com/office/drawing/2014/main" id="{C2437946-4741-61C0-14CE-630950ED36DF}"/>
              </a:ext>
            </a:extLst>
          </p:cNvPr>
          <p:cNvGrpSpPr/>
          <p:nvPr/>
        </p:nvGrpSpPr>
        <p:grpSpPr>
          <a:xfrm>
            <a:off x="5669280" y="1005840"/>
            <a:ext cx="3017520" cy="3596640"/>
            <a:chOff x="5669280" y="1005840"/>
            <a:chExt cx="3017520" cy="3596640"/>
          </a:xfrm>
        </p:grpSpPr>
        <p:sp>
          <p:nvSpPr>
            <p:cNvPr id="5" name="Shape 3"/>
            <p:cNvSpPr/>
            <p:nvPr/>
          </p:nvSpPr>
          <p:spPr>
            <a:xfrm>
              <a:off x="5669280" y="1005840"/>
              <a:ext cx="3017520" cy="3383280"/>
            </a:xfrm>
            <a:prstGeom prst="roundRect">
              <a:avLst>
                <a:gd name="adj" fmla="val 2424"/>
              </a:avLst>
            </a:prstGeom>
            <a:solidFill>
              <a:srgbClr val="F0F5FA"/>
            </a:solidFill>
            <a:ln w="12700">
              <a:solidFill>
                <a:srgbClr val="888888"/>
              </a:solidFill>
              <a:prstDash val="solid"/>
            </a:ln>
            <a:effectLst>
              <a:outerShdw blurRad="76200" dist="25400" dir="2700000" algn="bl" rotWithShape="0">
                <a:srgbClr val="000000">
                  <a:alpha val="10000"/>
                </a:srgbClr>
              </a:outerShdw>
            </a:effectLst>
          </p:spPr>
          <p:txBody>
            <a:bodyPr/>
            <a:lstStyle/>
            <a:p>
              <a:endParaRPr lang="en-US"/>
            </a:p>
          </p:txBody>
        </p:sp>
        <p:sp>
          <p:nvSpPr>
            <p:cNvPr id="6" name="Text 4"/>
            <p:cNvSpPr/>
            <p:nvPr/>
          </p:nvSpPr>
          <p:spPr>
            <a:xfrm>
              <a:off x="5852160" y="1143000"/>
              <a:ext cx="2651760" cy="365760"/>
            </a:xfrm>
            <a:prstGeom prst="rect">
              <a:avLst/>
            </a:prstGeom>
            <a:noFill/>
            <a:ln/>
          </p:spPr>
          <p:txBody>
            <a:bodyPr wrap="square" lIns="0" tIns="0" rIns="0" bIns="0" rtlCol="0" anchor="ctr"/>
            <a:lstStyle/>
            <a:p>
              <a:pPr marL="0" indent="0" algn="l">
                <a:buNone/>
              </a:pPr>
              <a:r>
                <a:rPr lang="en-US" sz="1300" b="1" dirty="0">
                  <a:latin typeface="Arial" pitchFamily="34" charset="0"/>
                  <a:ea typeface="Arial" pitchFamily="34" charset="-122"/>
                  <a:cs typeface="Arial" pitchFamily="34" charset="-120"/>
                </a:rPr>
                <a:t>Most valuable for:</a:t>
              </a:r>
              <a:endParaRPr lang="en-US" sz="1300" dirty="0"/>
            </a:p>
          </p:txBody>
        </p:sp>
        <p:sp>
          <p:nvSpPr>
            <p:cNvPr id="7" name="Text 5"/>
            <p:cNvSpPr/>
            <p:nvPr/>
          </p:nvSpPr>
          <p:spPr>
            <a:xfrm>
              <a:off x="5852160" y="1554480"/>
              <a:ext cx="2651760" cy="1005840"/>
            </a:xfrm>
            <a:prstGeom prst="rect">
              <a:avLst/>
            </a:prstGeom>
            <a:noFill/>
            <a:ln/>
          </p:spPr>
          <p:txBody>
            <a:bodyPr wrap="square" lIns="0" tIns="0" rIns="0" bIns="0" rtlCol="0" anchor="t"/>
            <a:lstStyle/>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Identifying &amp; timing individual peaks (e.g., for comparison to other events) </a:t>
              </a:r>
            </a:p>
            <a:p>
              <a:pPr marL="342900" indent="-342900" algn="l">
                <a:buSzPct val="100000"/>
                <a:buChar char="•"/>
              </a:pPr>
              <a:endParaRPr lang="en-US" sz="1300" dirty="0"/>
            </a:p>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Records with meaningful age-model uncertainty</a:t>
              </a:r>
              <a:endParaRPr lang="en-US" sz="1300" dirty="0"/>
            </a:p>
          </p:txBody>
        </p:sp>
        <p:sp>
          <p:nvSpPr>
            <p:cNvPr id="8" name="Text 6"/>
            <p:cNvSpPr/>
            <p:nvPr/>
          </p:nvSpPr>
          <p:spPr>
            <a:xfrm>
              <a:off x="5852160" y="2819400"/>
              <a:ext cx="2651760" cy="365760"/>
            </a:xfrm>
            <a:prstGeom prst="rect">
              <a:avLst/>
            </a:prstGeom>
            <a:noFill/>
            <a:ln/>
          </p:spPr>
          <p:txBody>
            <a:bodyPr wrap="square" lIns="0" tIns="0" rIns="0" bIns="0" rtlCol="0" anchor="ctr"/>
            <a:lstStyle/>
            <a:p>
              <a:pPr marL="0" indent="0" algn="l">
                <a:buNone/>
              </a:pPr>
              <a:r>
                <a:rPr lang="en-US" sz="1300" b="1" dirty="0">
                  <a:solidFill>
                    <a:schemeClr val="bg1">
                      <a:lumMod val="50000"/>
                    </a:schemeClr>
                  </a:solidFill>
                  <a:latin typeface="Arial" pitchFamily="34" charset="0"/>
                  <a:ea typeface="Arial" pitchFamily="34" charset="-122"/>
                  <a:cs typeface="Arial" pitchFamily="34" charset="-120"/>
                </a:rPr>
                <a:t>Less critical for:</a:t>
              </a:r>
              <a:endParaRPr lang="en-US" sz="1300" dirty="0">
                <a:solidFill>
                  <a:schemeClr val="bg1">
                    <a:lumMod val="50000"/>
                  </a:schemeClr>
                </a:solidFill>
              </a:endParaRPr>
            </a:p>
          </p:txBody>
        </p:sp>
        <p:sp>
          <p:nvSpPr>
            <p:cNvPr id="9" name="Text 7"/>
            <p:cNvSpPr/>
            <p:nvPr/>
          </p:nvSpPr>
          <p:spPr>
            <a:xfrm>
              <a:off x="5852160" y="3230880"/>
              <a:ext cx="2651760" cy="1371600"/>
            </a:xfrm>
            <a:prstGeom prst="rect">
              <a:avLst/>
            </a:prstGeom>
            <a:noFill/>
            <a:ln/>
          </p:spPr>
          <p:txBody>
            <a:bodyPr wrap="square" lIns="0" tIns="0" rIns="0" bIns="0" rtlCol="0" anchor="t"/>
            <a:lstStyle/>
            <a:p>
              <a:pPr marL="342900" indent="-342900" algn="l">
                <a:buSzPct val="100000"/>
                <a:buChar char="•"/>
              </a:pPr>
              <a:r>
                <a:rPr lang="en-US" sz="1300" dirty="0">
                  <a:solidFill>
                    <a:schemeClr val="bg1">
                      <a:lumMod val="50000"/>
                    </a:schemeClr>
                  </a:solidFill>
                  <a:latin typeface="Arial" pitchFamily="34" charset="0"/>
                  <a:ea typeface="Arial" pitchFamily="34" charset="-122"/>
                  <a:cs typeface="Arial" pitchFamily="34" charset="-120"/>
                </a:rPr>
                <a:t>Fire-regime statistics (mFRI, fire frequency), because timing shifts among peaks tend to covary.</a:t>
              </a:r>
              <a:endParaRPr lang="en-US" sz="1300" dirty="0">
                <a:solidFill>
                  <a:schemeClr val="bg1">
                    <a:lumMod val="50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00000"/>
                </a:solidFill>
                <a:latin typeface="Arial" pitchFamily="34" charset="0"/>
                <a:ea typeface="Arial" pitchFamily="34" charset="-122"/>
                <a:cs typeface="Arial" pitchFamily="34" charset="-120"/>
              </a:rPr>
              <a:t>Ensemble workflow: four steps</a:t>
            </a:r>
            <a:endParaRPr lang="en-US" sz="2600" dirty="0"/>
          </a:p>
        </p:txBody>
      </p:sp>
      <p:sp>
        <p:nvSpPr>
          <p:cNvPr id="3" name="Shape 1"/>
          <p:cNvSpPr/>
          <p:nvPr/>
        </p:nvSpPr>
        <p:spPr>
          <a:xfrm>
            <a:off x="457200" y="850392"/>
            <a:ext cx="8229600" cy="36576"/>
          </a:xfrm>
          <a:prstGeom prst="rect">
            <a:avLst/>
          </a:prstGeom>
          <a:solidFill>
            <a:srgbClr val="888888"/>
          </a:solidFill>
          <a:ln w="12700">
            <a:solidFill>
              <a:srgbClr val="888888"/>
            </a:solidFill>
            <a:prstDash val="solid"/>
          </a:ln>
        </p:spPr>
        <p:txBody>
          <a:bodyPr/>
          <a:lstStyle/>
          <a:p>
            <a:endParaRPr lang="en-US"/>
          </a:p>
        </p:txBody>
      </p:sp>
      <p:sp>
        <p:nvSpPr>
          <p:cNvPr id="4" name="Shape 2"/>
          <p:cNvSpPr/>
          <p:nvPr/>
        </p:nvSpPr>
        <p:spPr>
          <a:xfrm>
            <a:off x="571500" y="960120"/>
            <a:ext cx="1828800" cy="3474720"/>
          </a:xfrm>
          <a:prstGeom prst="roundRect">
            <a:avLst>
              <a:gd name="adj" fmla="val 4000"/>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571500" y="960120"/>
            <a:ext cx="1828800" cy="457200"/>
          </a:xfrm>
          <a:prstGeom prst="roundRect">
            <a:avLst>
              <a:gd name="adj" fmla="val 16000"/>
            </a:avLst>
          </a:prstGeom>
          <a:solidFill>
            <a:srgbClr val="888888"/>
          </a:solidFill>
          <a:ln w="12700">
            <a:solidFill>
              <a:schemeClr val="tx1"/>
            </a:solidFill>
            <a:prstDash val="solid"/>
          </a:ln>
        </p:spPr>
        <p:txBody>
          <a:bodyPr/>
          <a:lstStyle/>
          <a:p>
            <a:endParaRPr lang="en-US"/>
          </a:p>
        </p:txBody>
      </p:sp>
      <p:sp>
        <p:nvSpPr>
          <p:cNvPr id="7" name="Text 5"/>
          <p:cNvSpPr/>
          <p:nvPr/>
        </p:nvSpPr>
        <p:spPr>
          <a:xfrm>
            <a:off x="571500" y="960120"/>
            <a:ext cx="1828800" cy="457200"/>
          </a:xfrm>
          <a:prstGeom prst="rect">
            <a:avLst/>
          </a:prstGeom>
          <a:noFill/>
          <a:ln/>
        </p:spPr>
        <p:txBody>
          <a:bodyPr wrap="square" lIns="0" tIns="0" rIns="0" bIns="0" rtlCol="0" anchor="ctr"/>
          <a:lstStyle/>
          <a:p>
            <a:pPr marL="0" indent="0" algn="ctr">
              <a:buNone/>
            </a:pPr>
            <a:r>
              <a:rPr lang="en-US" sz="2000" b="1" dirty="0">
                <a:solidFill>
                  <a:srgbClr val="000000"/>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662940" y="1481328"/>
            <a:ext cx="1645920" cy="502920"/>
          </a:xfrm>
          <a:prstGeom prst="rect">
            <a:avLst/>
          </a:prstGeom>
          <a:noFill/>
          <a:ln/>
        </p:spPr>
        <p:txBody>
          <a:bodyPr wrap="square" lIns="0" tIns="0" rIns="0" bIns="0" rtlCol="0" anchor="t"/>
          <a:lstStyle/>
          <a:p>
            <a:pPr marL="0" indent="0" algn="ctr">
              <a:buNone/>
            </a:pPr>
            <a:r>
              <a:rPr lang="en-US" sz="1350" b="1" dirty="0">
                <a:solidFill>
                  <a:srgbClr val="000000"/>
                </a:solidFill>
                <a:latin typeface="Arial" pitchFamily="34" charset="0"/>
                <a:ea typeface="Arial" pitchFamily="34" charset="-122"/>
                <a:cs typeface="Arial" pitchFamily="34" charset="-120"/>
              </a:rPr>
              <a:t>Build age-depth model</a:t>
            </a:r>
            <a:endParaRPr lang="en-US" sz="1350" dirty="0"/>
          </a:p>
        </p:txBody>
      </p:sp>
      <p:sp>
        <p:nvSpPr>
          <p:cNvPr id="9" name="Text 7"/>
          <p:cNvSpPr/>
          <p:nvPr/>
        </p:nvSpPr>
        <p:spPr>
          <a:xfrm>
            <a:off x="662940" y="1956816"/>
            <a:ext cx="1645920" cy="320040"/>
          </a:xfrm>
          <a:prstGeom prst="rect">
            <a:avLst/>
          </a:prstGeom>
          <a:noFill/>
          <a:ln/>
        </p:spPr>
        <p:txBody>
          <a:bodyPr wrap="square" lIns="0" tIns="0" rIns="0" bIns="0" rtlCol="0" anchor="t"/>
          <a:lstStyle/>
          <a:p>
            <a:pPr marL="0" indent="0" algn="ctr">
              <a:buNone/>
            </a:pPr>
            <a:r>
              <a:rPr lang="en-US" sz="1000" i="1" dirty="0">
                <a:solidFill>
                  <a:srgbClr val="555555"/>
                </a:solidFill>
                <a:latin typeface="Arial" pitchFamily="34" charset="0"/>
                <a:ea typeface="Arial" pitchFamily="34" charset="-122"/>
                <a:cs typeface="Arial" pitchFamily="34" charset="-120"/>
              </a:rPr>
              <a:t>(external: rbacon / MCAgeDepth)</a:t>
            </a:r>
            <a:endParaRPr lang="en-US" sz="1000" dirty="0"/>
          </a:p>
        </p:txBody>
      </p:sp>
      <p:sp>
        <p:nvSpPr>
          <p:cNvPr id="10" name="Text 8"/>
          <p:cNvSpPr/>
          <p:nvPr/>
        </p:nvSpPr>
        <p:spPr>
          <a:xfrm>
            <a:off x="681228" y="2286000"/>
            <a:ext cx="1609344" cy="1965960"/>
          </a:xfrm>
          <a:prstGeom prst="rect">
            <a:avLst/>
          </a:prstGeom>
          <a:noFill/>
          <a:ln/>
        </p:spPr>
        <p:txBody>
          <a:bodyPr wrap="square" lIns="0" tIns="0" rIns="0" bIns="0" rtlCol="0" anchor="t"/>
          <a:lstStyle/>
          <a:p>
            <a:pPr marL="0" indent="0" algn="l">
              <a:buNone/>
            </a:pPr>
            <a:r>
              <a:rPr lang="en-US" sz="1200" dirty="0">
                <a:solidFill>
                  <a:srgbClr val="000000"/>
                </a:solidFill>
                <a:latin typeface="Arial" pitchFamily="34" charset="0"/>
                <a:ea typeface="Arial" pitchFamily="34" charset="-122"/>
                <a:cs typeface="Arial" pitchFamily="34" charset="-120"/>
              </a:rPr>
              <a:t>Extract n = 1,000 chronologies from the MCMC output, preserving temporal covariance. </a:t>
            </a:r>
          </a:p>
          <a:p>
            <a:pPr marL="0" indent="0" algn="l">
              <a:buNone/>
            </a:pPr>
            <a:endParaRPr lang="en-US" sz="1200" dirty="0">
              <a:solidFill>
                <a:srgbClr val="000000"/>
              </a:solidFill>
              <a:latin typeface="Arial" pitchFamily="34" charset="0"/>
              <a:ea typeface="Arial" pitchFamily="34" charset="-122"/>
              <a:cs typeface="Arial" pitchFamily="34" charset="-120"/>
            </a:endParaRPr>
          </a:p>
          <a:p>
            <a:pPr marL="0" indent="0" algn="l">
              <a:buNone/>
            </a:pPr>
            <a:r>
              <a:rPr lang="en-US" sz="1200" dirty="0">
                <a:solidFill>
                  <a:srgbClr val="000000"/>
                </a:solidFill>
                <a:latin typeface="Arial" pitchFamily="34" charset="0"/>
                <a:ea typeface="Arial" pitchFamily="34" charset="-122"/>
                <a:cs typeface="Arial" pitchFamily="34" charset="-120"/>
              </a:rPr>
              <a:t>Any age-depth tool works; rbacon is the primary target.</a:t>
            </a:r>
            <a:endParaRPr lang="en-US" sz="1200" dirty="0"/>
          </a:p>
        </p:txBody>
      </p:sp>
      <p:sp>
        <p:nvSpPr>
          <p:cNvPr id="11" name="Shape 9"/>
          <p:cNvSpPr/>
          <p:nvPr/>
        </p:nvSpPr>
        <p:spPr>
          <a:xfrm>
            <a:off x="2628900" y="960120"/>
            <a:ext cx="1828800" cy="3474720"/>
          </a:xfrm>
          <a:prstGeom prst="roundRect">
            <a:avLst>
              <a:gd name="adj" fmla="val 4000"/>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12" name="Shape 10"/>
          <p:cNvSpPr/>
          <p:nvPr/>
        </p:nvSpPr>
        <p:spPr>
          <a:xfrm>
            <a:off x="2628900" y="960120"/>
            <a:ext cx="1828800" cy="457200"/>
          </a:xfrm>
          <a:prstGeom prst="roundRect">
            <a:avLst>
              <a:gd name="adj" fmla="val 16000"/>
            </a:avLst>
          </a:prstGeom>
          <a:solidFill>
            <a:srgbClr val="888888"/>
          </a:solidFill>
          <a:ln w="12700">
            <a:solidFill>
              <a:schemeClr val="tx1"/>
            </a:solidFill>
            <a:prstDash val="solid"/>
          </a:ln>
        </p:spPr>
        <p:txBody>
          <a:bodyPr/>
          <a:lstStyle/>
          <a:p>
            <a:endParaRPr lang="en-US"/>
          </a:p>
        </p:txBody>
      </p:sp>
      <p:sp>
        <p:nvSpPr>
          <p:cNvPr id="14" name="Text 12"/>
          <p:cNvSpPr/>
          <p:nvPr/>
        </p:nvSpPr>
        <p:spPr>
          <a:xfrm>
            <a:off x="2628900" y="960120"/>
            <a:ext cx="1828800" cy="457200"/>
          </a:xfrm>
          <a:prstGeom prst="rect">
            <a:avLst/>
          </a:prstGeom>
          <a:noFill/>
          <a:ln/>
        </p:spPr>
        <p:txBody>
          <a:bodyPr wrap="square" lIns="0" tIns="0" rIns="0" bIns="0" rtlCol="0" anchor="ctr"/>
          <a:lstStyle/>
          <a:p>
            <a:pPr marL="0" indent="0" algn="ctr">
              <a:buNone/>
            </a:pPr>
            <a:r>
              <a:rPr lang="en-US" sz="2000" b="1" dirty="0">
                <a:solidFill>
                  <a:srgbClr val="000000"/>
                </a:solidFill>
                <a:latin typeface="Arial" pitchFamily="34" charset="0"/>
                <a:ea typeface="Arial" pitchFamily="34" charset="-122"/>
                <a:cs typeface="Arial" pitchFamily="34" charset="-120"/>
              </a:rPr>
              <a:t>2</a:t>
            </a:r>
            <a:endParaRPr lang="en-US" sz="2000" dirty="0"/>
          </a:p>
        </p:txBody>
      </p:sp>
      <p:sp>
        <p:nvSpPr>
          <p:cNvPr id="15" name="Text 13"/>
          <p:cNvSpPr/>
          <p:nvPr/>
        </p:nvSpPr>
        <p:spPr>
          <a:xfrm>
            <a:off x="2720340" y="1481328"/>
            <a:ext cx="1645920" cy="502920"/>
          </a:xfrm>
          <a:prstGeom prst="rect">
            <a:avLst/>
          </a:prstGeom>
          <a:noFill/>
          <a:ln/>
        </p:spPr>
        <p:txBody>
          <a:bodyPr wrap="square" lIns="0" tIns="0" rIns="0" bIns="0" rtlCol="0" anchor="t"/>
          <a:lstStyle/>
          <a:p>
            <a:pPr marL="0" indent="0" algn="ctr">
              <a:buNone/>
            </a:pPr>
            <a:r>
              <a:rPr lang="en-US" sz="1350" b="1" dirty="0">
                <a:solidFill>
                  <a:srgbClr val="000000"/>
                </a:solidFill>
                <a:latin typeface="Arial" pitchFamily="34" charset="0"/>
                <a:ea typeface="Arial" pitchFamily="34" charset="-122"/>
                <a:cs typeface="Arial" pitchFamily="34" charset="-120"/>
              </a:rPr>
              <a:t>Run the ensemble</a:t>
            </a:r>
            <a:endParaRPr lang="en-US" sz="1350" dirty="0"/>
          </a:p>
        </p:txBody>
      </p:sp>
      <p:sp>
        <p:nvSpPr>
          <p:cNvPr id="16" name="Text 14"/>
          <p:cNvSpPr/>
          <p:nvPr/>
        </p:nvSpPr>
        <p:spPr>
          <a:xfrm>
            <a:off x="2720340" y="1956816"/>
            <a:ext cx="1645920" cy="320040"/>
          </a:xfrm>
          <a:prstGeom prst="rect">
            <a:avLst/>
          </a:prstGeom>
          <a:noFill/>
          <a:ln/>
        </p:spPr>
        <p:txBody>
          <a:bodyPr wrap="square" lIns="0" tIns="0" rIns="0" bIns="0" rtlCol="0" anchor="t"/>
          <a:lstStyle/>
          <a:p>
            <a:pPr marL="0" indent="0" algn="ctr">
              <a:buNone/>
            </a:pPr>
            <a:r>
              <a:rPr lang="en-US" sz="1000" i="1" dirty="0">
                <a:solidFill>
                  <a:srgbClr val="555555"/>
                </a:solidFill>
                <a:latin typeface="Arial" pitchFamily="34" charset="0"/>
                <a:ea typeface="Arial" pitchFamily="34" charset="-122"/>
                <a:cs typeface="Arial" pitchFamily="34" charset="-120"/>
              </a:rPr>
              <a:t>(char_run_ensemble.R)</a:t>
            </a:r>
            <a:endParaRPr lang="en-US" sz="1000" dirty="0"/>
          </a:p>
        </p:txBody>
      </p:sp>
      <p:sp>
        <p:nvSpPr>
          <p:cNvPr id="17" name="Text 15"/>
          <p:cNvSpPr/>
          <p:nvPr/>
        </p:nvSpPr>
        <p:spPr>
          <a:xfrm>
            <a:off x="2738628" y="2286000"/>
            <a:ext cx="1609344" cy="1965960"/>
          </a:xfrm>
          <a:prstGeom prst="rect">
            <a:avLst/>
          </a:prstGeom>
          <a:noFill/>
          <a:ln/>
        </p:spPr>
        <p:txBody>
          <a:bodyPr wrap="square" lIns="0" tIns="0" rIns="0" bIns="0" rtlCol="0" anchor="t"/>
          <a:lstStyle/>
          <a:p>
            <a:pPr marL="0" indent="0" algn="l">
              <a:buNone/>
            </a:pPr>
            <a:r>
              <a:rPr lang="en-US" sz="1200" i="1" dirty="0">
                <a:solidFill>
                  <a:srgbClr val="000000"/>
                </a:solidFill>
                <a:latin typeface="Arial" pitchFamily="34" charset="0"/>
                <a:ea typeface="Arial" pitchFamily="34" charset="-122"/>
                <a:cs typeface="Arial" pitchFamily="34" charset="-120"/>
              </a:rPr>
              <a:t>CharAnalysis</a:t>
            </a:r>
            <a:r>
              <a:rPr lang="en-US" sz="1200" dirty="0">
                <a:solidFill>
                  <a:srgbClr val="000000"/>
                </a:solidFill>
                <a:latin typeface="Arial" pitchFamily="34" charset="0"/>
                <a:ea typeface="Arial" pitchFamily="34" charset="-122"/>
                <a:cs typeface="Arial" pitchFamily="34" charset="-120"/>
              </a:rPr>
              <a:t> pipeline runs once per chronology. </a:t>
            </a:r>
          </a:p>
          <a:p>
            <a:pPr marL="0" indent="0" algn="l">
              <a:buNone/>
            </a:pPr>
            <a:endParaRPr lang="en-US" sz="1200" dirty="0">
              <a:solidFill>
                <a:srgbClr val="000000"/>
              </a:solidFill>
              <a:latin typeface="Arial" pitchFamily="34" charset="0"/>
              <a:ea typeface="Arial" pitchFamily="34" charset="-122"/>
              <a:cs typeface="Arial" pitchFamily="34" charset="-120"/>
            </a:endParaRPr>
          </a:p>
          <a:p>
            <a:pPr marL="0" indent="0" algn="l">
              <a:buNone/>
            </a:pPr>
            <a:r>
              <a:rPr lang="en-US" sz="1200" b="1" dirty="0">
                <a:solidFill>
                  <a:srgbClr val="000000"/>
                </a:solidFill>
                <a:latin typeface="Arial" pitchFamily="34" charset="0"/>
                <a:ea typeface="Arial" pitchFamily="34" charset="-122"/>
                <a:cs typeface="Arial" pitchFamily="34" charset="-120"/>
              </a:rPr>
              <a:t>Parallel processing</a:t>
            </a:r>
            <a:r>
              <a:rPr lang="en-US" sz="1200" dirty="0">
                <a:solidFill>
                  <a:srgbClr val="000000"/>
                </a:solidFill>
                <a:latin typeface="Arial" pitchFamily="34" charset="0"/>
                <a:ea typeface="Arial" pitchFamily="34" charset="-122"/>
                <a:cs typeface="Arial" pitchFamily="34" charset="-120"/>
              </a:rPr>
              <a:t>: ~2 min for 1,000 iterations on a modern desktop (19 cores).</a:t>
            </a:r>
            <a:endParaRPr lang="en-US" sz="1200" dirty="0"/>
          </a:p>
        </p:txBody>
      </p:sp>
      <p:grpSp>
        <p:nvGrpSpPr>
          <p:cNvPr id="32" name="Group 31">
            <a:extLst>
              <a:ext uri="{FF2B5EF4-FFF2-40B4-BE49-F238E27FC236}">
                <a16:creationId xmlns:a16="http://schemas.microsoft.com/office/drawing/2014/main" id="{2D561CA0-CA23-3D69-0C94-84A0E1F85C67}"/>
              </a:ext>
            </a:extLst>
          </p:cNvPr>
          <p:cNvGrpSpPr/>
          <p:nvPr/>
        </p:nvGrpSpPr>
        <p:grpSpPr>
          <a:xfrm>
            <a:off x="4686300" y="960120"/>
            <a:ext cx="3886200" cy="3474720"/>
            <a:chOff x="4686300" y="960120"/>
            <a:chExt cx="3886200" cy="3474720"/>
          </a:xfrm>
        </p:grpSpPr>
        <p:sp>
          <p:nvSpPr>
            <p:cNvPr id="18" name="Shape 16"/>
            <p:cNvSpPr/>
            <p:nvPr/>
          </p:nvSpPr>
          <p:spPr>
            <a:xfrm>
              <a:off x="4686300" y="960120"/>
              <a:ext cx="1828800" cy="3474720"/>
            </a:xfrm>
            <a:prstGeom prst="roundRect">
              <a:avLst>
                <a:gd name="adj" fmla="val 4000"/>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19" name="Shape 17"/>
            <p:cNvSpPr/>
            <p:nvPr/>
          </p:nvSpPr>
          <p:spPr>
            <a:xfrm>
              <a:off x="4686300" y="960120"/>
              <a:ext cx="1828800" cy="457200"/>
            </a:xfrm>
            <a:prstGeom prst="roundRect">
              <a:avLst>
                <a:gd name="adj" fmla="val 16000"/>
              </a:avLst>
            </a:prstGeom>
            <a:solidFill>
              <a:schemeClr val="accent1">
                <a:lumMod val="40000"/>
                <a:lumOff val="60000"/>
              </a:schemeClr>
            </a:solidFill>
            <a:ln w="12700">
              <a:solidFill>
                <a:srgbClr val="333333"/>
              </a:solidFill>
              <a:prstDash val="solid"/>
            </a:ln>
          </p:spPr>
          <p:txBody>
            <a:bodyPr/>
            <a:lstStyle/>
            <a:p>
              <a:endParaRPr lang="en-US"/>
            </a:p>
          </p:txBody>
        </p:sp>
        <p:sp>
          <p:nvSpPr>
            <p:cNvPr id="21" name="Text 19"/>
            <p:cNvSpPr/>
            <p:nvPr/>
          </p:nvSpPr>
          <p:spPr>
            <a:xfrm>
              <a:off x="4686300" y="960120"/>
              <a:ext cx="1828800" cy="457200"/>
            </a:xfrm>
            <a:prstGeom prst="rect">
              <a:avLst/>
            </a:prstGeom>
            <a:noFill/>
            <a:ln/>
          </p:spPr>
          <p:txBody>
            <a:bodyPr wrap="square" lIns="0" tIns="0" rIns="0" bIns="0" rtlCol="0" anchor="ctr"/>
            <a:lstStyle/>
            <a:p>
              <a:pPr marL="0" indent="0" algn="ctr">
                <a:buNone/>
              </a:pPr>
              <a:r>
                <a:rPr lang="en-US" sz="2000" b="1" dirty="0">
                  <a:solidFill>
                    <a:srgbClr val="000000"/>
                  </a:solidFill>
                  <a:latin typeface="Arial" pitchFamily="34" charset="0"/>
                  <a:ea typeface="Arial" pitchFamily="34" charset="-122"/>
                  <a:cs typeface="Arial" pitchFamily="34" charset="-120"/>
                </a:rPr>
                <a:t>3</a:t>
              </a:r>
              <a:endParaRPr lang="en-US" sz="2000" dirty="0"/>
            </a:p>
          </p:txBody>
        </p:sp>
        <p:sp>
          <p:nvSpPr>
            <p:cNvPr id="22" name="Text 20"/>
            <p:cNvSpPr/>
            <p:nvPr/>
          </p:nvSpPr>
          <p:spPr>
            <a:xfrm>
              <a:off x="4777740" y="1481328"/>
              <a:ext cx="1645920" cy="502920"/>
            </a:xfrm>
            <a:prstGeom prst="rect">
              <a:avLst/>
            </a:prstGeom>
            <a:noFill/>
            <a:ln/>
          </p:spPr>
          <p:txBody>
            <a:bodyPr wrap="square" lIns="0" tIns="0" rIns="0" bIns="0" rtlCol="0" anchor="t"/>
            <a:lstStyle/>
            <a:p>
              <a:pPr marL="0" indent="0" algn="ctr">
                <a:buNone/>
              </a:pPr>
              <a:r>
                <a:rPr lang="en-US" sz="1350" b="1" dirty="0">
                  <a:solidFill>
                    <a:srgbClr val="000000"/>
                  </a:solidFill>
                  <a:latin typeface="Arial" pitchFamily="34" charset="0"/>
                  <a:ea typeface="Arial" pitchFamily="34" charset="-122"/>
                  <a:cs typeface="Arial" pitchFamily="34" charset="-120"/>
                </a:rPr>
                <a:t>Analyze ensemble results</a:t>
              </a:r>
              <a:endParaRPr lang="en-US" sz="1350" dirty="0"/>
            </a:p>
          </p:txBody>
        </p:sp>
        <p:sp>
          <p:nvSpPr>
            <p:cNvPr id="23" name="Text 21"/>
            <p:cNvSpPr/>
            <p:nvPr/>
          </p:nvSpPr>
          <p:spPr>
            <a:xfrm>
              <a:off x="4777740" y="1956816"/>
              <a:ext cx="1645920" cy="320040"/>
            </a:xfrm>
            <a:prstGeom prst="rect">
              <a:avLst/>
            </a:prstGeom>
            <a:noFill/>
            <a:ln/>
          </p:spPr>
          <p:txBody>
            <a:bodyPr wrap="square" lIns="0" tIns="0" rIns="0" bIns="0" rtlCol="0" anchor="t"/>
            <a:lstStyle/>
            <a:p>
              <a:pPr marL="0" indent="0" algn="ctr">
                <a:buNone/>
              </a:pPr>
              <a:r>
                <a:rPr lang="en-US" sz="1000" i="1" dirty="0">
                  <a:solidFill>
                    <a:srgbClr val="555555"/>
                  </a:solidFill>
                  <a:latin typeface="Arial" pitchFamily="34" charset="0"/>
                  <a:ea typeface="Arial" pitchFamily="34" charset="-122"/>
                  <a:cs typeface="Arial" pitchFamily="34" charset="-120"/>
                </a:rPr>
                <a:t>(run_ensemble_analysis.R)</a:t>
              </a:r>
              <a:endParaRPr lang="en-US" sz="1000" dirty="0"/>
            </a:p>
          </p:txBody>
        </p:sp>
        <p:sp>
          <p:nvSpPr>
            <p:cNvPr id="24" name="Text 22"/>
            <p:cNvSpPr/>
            <p:nvPr/>
          </p:nvSpPr>
          <p:spPr>
            <a:xfrm>
              <a:off x="4796028" y="2286000"/>
              <a:ext cx="1609344" cy="1965960"/>
            </a:xfrm>
            <a:prstGeom prst="rect">
              <a:avLst/>
            </a:prstGeom>
            <a:noFill/>
            <a:ln/>
          </p:spPr>
          <p:txBody>
            <a:bodyPr wrap="square" lIns="0" tIns="0" rIns="0" bIns="0" rtlCol="0" anchor="t"/>
            <a:lstStyle/>
            <a:p>
              <a:pPr marL="0" indent="0" algn="l">
                <a:buNone/>
              </a:pPr>
              <a:r>
                <a:rPr lang="en-US" sz="1200" dirty="0">
                  <a:solidFill>
                    <a:srgbClr val="000000"/>
                  </a:solidFill>
                  <a:latin typeface="Arial" pitchFamily="34" charset="0"/>
                  <a:ea typeface="Arial" pitchFamily="34" charset="-122"/>
                  <a:cs typeface="Arial" pitchFamily="34" charset="-120"/>
                </a:rPr>
                <a:t>Use adaptive matching window for each reference peak. </a:t>
              </a:r>
            </a:p>
            <a:p>
              <a:pPr marL="0" indent="0" algn="l">
                <a:buNone/>
              </a:pPr>
              <a:endParaRPr lang="en-US" sz="1200" dirty="0">
                <a:solidFill>
                  <a:srgbClr val="000000"/>
                </a:solidFill>
                <a:latin typeface="Arial" pitchFamily="34" charset="0"/>
                <a:ea typeface="Arial" pitchFamily="34" charset="-122"/>
                <a:cs typeface="Arial" pitchFamily="34" charset="-120"/>
              </a:endParaRPr>
            </a:p>
            <a:p>
              <a:pPr marL="0" indent="0" algn="l">
                <a:buNone/>
              </a:pPr>
              <a:r>
                <a:rPr lang="en-US" sz="1200" b="1" dirty="0">
                  <a:solidFill>
                    <a:srgbClr val="000000"/>
                  </a:solidFill>
                  <a:latin typeface="Arial" pitchFamily="34" charset="0"/>
                  <a:ea typeface="Arial" pitchFamily="34" charset="-122"/>
                  <a:cs typeface="Arial" pitchFamily="34" charset="-120"/>
                </a:rPr>
                <a:t>Reports:</a:t>
              </a:r>
            </a:p>
            <a:p>
              <a:pPr marL="171450" indent="-171450" algn="l">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Detection frequency</a:t>
              </a:r>
            </a:p>
            <a:p>
              <a:pPr marL="171450" indent="-171450" algn="l">
                <a:buFont typeface="Arial" panose="020B0604020202020204" pitchFamily="34" charset="0"/>
                <a:buChar char="•"/>
              </a:pPr>
              <a:endParaRPr lang="en-US" sz="1200" dirty="0">
                <a:solidFill>
                  <a:srgbClr val="000000"/>
                </a:solidFill>
                <a:latin typeface="Arial" pitchFamily="34" charset="0"/>
                <a:ea typeface="Arial" pitchFamily="34" charset="-122"/>
                <a:cs typeface="Arial" pitchFamily="34" charset="-120"/>
              </a:endParaRPr>
            </a:p>
            <a:p>
              <a:pPr marL="171450" indent="-171450" algn="l">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95% CI on timing</a:t>
              </a:r>
            </a:p>
            <a:p>
              <a:pPr marL="171450" indent="-171450" algn="l">
                <a:buFont typeface="Arial" panose="020B0604020202020204" pitchFamily="34" charset="0"/>
                <a:buChar char="•"/>
              </a:pPr>
              <a:endParaRPr lang="en-US" sz="1200" dirty="0">
                <a:solidFill>
                  <a:srgbClr val="000000"/>
                </a:solidFill>
                <a:latin typeface="Arial" pitchFamily="34" charset="0"/>
                <a:ea typeface="Arial" pitchFamily="34" charset="-122"/>
                <a:cs typeface="Arial" pitchFamily="34" charset="-120"/>
              </a:endParaRPr>
            </a:p>
            <a:p>
              <a:pPr marL="171450" indent="-171450" algn="l">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Ensemble-only peaks </a:t>
              </a:r>
              <a:r>
                <a:rPr lang="en-US" sz="1050" dirty="0">
                  <a:solidFill>
                    <a:srgbClr val="000000"/>
                  </a:solidFill>
                  <a:latin typeface="Arial" pitchFamily="34" charset="0"/>
                  <a:ea typeface="Arial" pitchFamily="34" charset="-122"/>
                  <a:cs typeface="Arial" pitchFamily="34" charset="-120"/>
                </a:rPr>
                <a:t>(10% threshold)</a:t>
              </a:r>
              <a:r>
                <a:rPr lang="en-US" sz="1200" dirty="0">
                  <a:solidFill>
                    <a:srgbClr val="000000"/>
                  </a:solidFill>
                  <a:latin typeface="Arial" pitchFamily="34" charset="0"/>
                  <a:ea typeface="Arial" pitchFamily="34" charset="-122"/>
                  <a:cs typeface="Arial" pitchFamily="34" charset="-120"/>
                </a:rPr>
                <a:t>.</a:t>
              </a:r>
              <a:endParaRPr lang="en-US" sz="1200" dirty="0"/>
            </a:p>
          </p:txBody>
        </p:sp>
        <p:sp>
          <p:nvSpPr>
            <p:cNvPr id="25" name="Shape 23"/>
            <p:cNvSpPr/>
            <p:nvPr/>
          </p:nvSpPr>
          <p:spPr>
            <a:xfrm>
              <a:off x="6743700" y="960120"/>
              <a:ext cx="1828800" cy="3474720"/>
            </a:xfrm>
            <a:prstGeom prst="roundRect">
              <a:avLst>
                <a:gd name="adj" fmla="val 4000"/>
              </a:avLst>
            </a:prstGeom>
            <a:solidFill>
              <a:srgbClr val="FFFFFF"/>
            </a:solidFill>
            <a:ln w="12700">
              <a:solidFill>
                <a:srgbClr val="E0E6EC"/>
              </a:solidFill>
              <a:prstDash val="solid"/>
            </a:ln>
            <a:effectLst>
              <a:outerShdw blurRad="76200" dist="25400" dir="2700000" algn="bl" rotWithShape="0">
                <a:srgbClr val="000000">
                  <a:alpha val="10000"/>
                </a:srgbClr>
              </a:outerShdw>
            </a:effectLst>
          </p:spPr>
          <p:txBody>
            <a:bodyPr/>
            <a:lstStyle/>
            <a:p>
              <a:endParaRPr lang="en-US"/>
            </a:p>
          </p:txBody>
        </p:sp>
        <p:sp>
          <p:nvSpPr>
            <p:cNvPr id="26" name="Shape 24"/>
            <p:cNvSpPr/>
            <p:nvPr/>
          </p:nvSpPr>
          <p:spPr>
            <a:xfrm>
              <a:off x="6743700" y="960120"/>
              <a:ext cx="1828800" cy="457200"/>
            </a:xfrm>
            <a:prstGeom prst="roundRect">
              <a:avLst>
                <a:gd name="adj" fmla="val 16000"/>
              </a:avLst>
            </a:prstGeom>
            <a:solidFill>
              <a:schemeClr val="accent1">
                <a:lumMod val="40000"/>
                <a:lumOff val="60000"/>
              </a:schemeClr>
            </a:solidFill>
            <a:ln w="12700">
              <a:solidFill>
                <a:srgbClr val="333333"/>
              </a:solidFill>
              <a:prstDash val="solid"/>
            </a:ln>
          </p:spPr>
          <p:txBody>
            <a:bodyPr/>
            <a:lstStyle/>
            <a:p>
              <a:endParaRPr lang="en-US"/>
            </a:p>
          </p:txBody>
        </p:sp>
        <p:sp>
          <p:nvSpPr>
            <p:cNvPr id="28" name="Text 26"/>
            <p:cNvSpPr/>
            <p:nvPr/>
          </p:nvSpPr>
          <p:spPr>
            <a:xfrm>
              <a:off x="6743700" y="960120"/>
              <a:ext cx="1828800" cy="457200"/>
            </a:xfrm>
            <a:prstGeom prst="rect">
              <a:avLst/>
            </a:prstGeom>
            <a:noFill/>
            <a:ln/>
          </p:spPr>
          <p:txBody>
            <a:bodyPr wrap="square" lIns="0" tIns="0" rIns="0" bIns="0" rtlCol="0" anchor="ctr"/>
            <a:lstStyle/>
            <a:p>
              <a:pPr marL="0" indent="0" algn="ctr">
                <a:buNone/>
              </a:pPr>
              <a:r>
                <a:rPr lang="en-US" sz="2000" b="1" dirty="0">
                  <a:solidFill>
                    <a:srgbClr val="000000"/>
                  </a:solidFill>
                  <a:latin typeface="Arial" pitchFamily="34" charset="0"/>
                  <a:ea typeface="Arial" pitchFamily="34" charset="-122"/>
                  <a:cs typeface="Arial" pitchFamily="34" charset="-120"/>
                </a:rPr>
                <a:t>4</a:t>
              </a:r>
              <a:endParaRPr lang="en-US" sz="2000" dirty="0"/>
            </a:p>
          </p:txBody>
        </p:sp>
        <p:sp>
          <p:nvSpPr>
            <p:cNvPr id="29" name="Text 27"/>
            <p:cNvSpPr/>
            <p:nvPr/>
          </p:nvSpPr>
          <p:spPr>
            <a:xfrm>
              <a:off x="6835140" y="1481328"/>
              <a:ext cx="1645920" cy="502920"/>
            </a:xfrm>
            <a:prstGeom prst="rect">
              <a:avLst/>
            </a:prstGeom>
            <a:noFill/>
            <a:ln/>
          </p:spPr>
          <p:txBody>
            <a:bodyPr wrap="square" lIns="0" tIns="0" rIns="0" bIns="0" rtlCol="0" anchor="t"/>
            <a:lstStyle/>
            <a:p>
              <a:pPr marL="0" indent="0" algn="ctr">
                <a:buNone/>
              </a:pPr>
              <a:r>
                <a:rPr lang="en-US" sz="1350" b="1" dirty="0">
                  <a:solidFill>
                    <a:srgbClr val="000000"/>
                  </a:solidFill>
                  <a:latin typeface="Arial" pitchFamily="34" charset="0"/>
                  <a:ea typeface="Arial" pitchFamily="34" charset="-122"/>
                  <a:cs typeface="Arial" pitchFamily="34" charset="-120"/>
                </a:rPr>
                <a:t>Visualize</a:t>
              </a:r>
              <a:endParaRPr lang="en-US" sz="1350" dirty="0"/>
            </a:p>
          </p:txBody>
        </p:sp>
        <p:sp>
          <p:nvSpPr>
            <p:cNvPr id="30" name="Text 28"/>
            <p:cNvSpPr/>
            <p:nvPr/>
          </p:nvSpPr>
          <p:spPr>
            <a:xfrm>
              <a:off x="6835140" y="1956816"/>
              <a:ext cx="1645920" cy="320040"/>
            </a:xfrm>
            <a:prstGeom prst="rect">
              <a:avLst/>
            </a:prstGeom>
            <a:noFill/>
            <a:ln/>
          </p:spPr>
          <p:txBody>
            <a:bodyPr wrap="square" lIns="0" tIns="0" rIns="0" bIns="0" rtlCol="0" anchor="t"/>
            <a:lstStyle/>
            <a:p>
              <a:pPr marL="0" indent="0" algn="ctr">
                <a:buNone/>
              </a:pPr>
              <a:r>
                <a:rPr lang="en-US" sz="1000" i="1" dirty="0">
                  <a:solidFill>
                    <a:srgbClr val="555555"/>
                  </a:solidFill>
                  <a:latin typeface="Arial" pitchFamily="34" charset="0"/>
                  <a:ea typeface="Arial" pitchFamily="34" charset="-122"/>
                  <a:cs typeface="Arial" pitchFamily="34" charset="-120"/>
                </a:rPr>
                <a:t>(plot_ensemble_figure.R)</a:t>
              </a:r>
              <a:endParaRPr lang="en-US" sz="1000" dirty="0"/>
            </a:p>
          </p:txBody>
        </p:sp>
        <p:sp>
          <p:nvSpPr>
            <p:cNvPr id="31" name="Text 29"/>
            <p:cNvSpPr/>
            <p:nvPr/>
          </p:nvSpPr>
          <p:spPr>
            <a:xfrm>
              <a:off x="6853428" y="2286000"/>
              <a:ext cx="1609344" cy="1965960"/>
            </a:xfrm>
            <a:prstGeom prst="rect">
              <a:avLst/>
            </a:prstGeom>
            <a:noFill/>
            <a:ln/>
          </p:spPr>
          <p:txBody>
            <a:bodyPr wrap="square" lIns="0" tIns="0" rIns="0" bIns="0" rtlCol="0" anchor="t"/>
            <a:lstStyle/>
            <a:p>
              <a:pPr marL="0" indent="0" algn="l">
                <a:buNone/>
              </a:pPr>
              <a:r>
                <a:rPr lang="en-US" sz="1200" b="1" dirty="0">
                  <a:solidFill>
                    <a:srgbClr val="000000"/>
                  </a:solidFill>
                  <a:latin typeface="Arial" pitchFamily="34" charset="0"/>
                  <a:ea typeface="Arial" pitchFamily="34" charset="-122"/>
                  <a:cs typeface="Arial" pitchFamily="34" charset="-120"/>
                </a:rPr>
                <a:t>Four-panel figure: </a:t>
              </a:r>
            </a:p>
            <a:p>
              <a:pPr marL="171450" indent="-171450" algn="l">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CHAR + benchmark</a:t>
              </a:r>
            </a:p>
            <a:p>
              <a:pPr marL="171450" indent="-171450" algn="l">
                <a:buFont typeface="Arial" panose="020B0604020202020204" pitchFamily="34" charset="0"/>
                <a:buChar char="•"/>
              </a:pPr>
              <a:endParaRPr lang="en-US" sz="1200" dirty="0">
                <a:solidFill>
                  <a:srgbClr val="000000"/>
                </a:solidFill>
                <a:latin typeface="Arial" pitchFamily="34" charset="0"/>
                <a:ea typeface="Arial" pitchFamily="34" charset="-122"/>
                <a:cs typeface="Arial" pitchFamily="34" charset="-120"/>
              </a:endParaRPr>
            </a:p>
            <a:p>
              <a:pPr marL="171450" indent="-171450" algn="l">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Detection frequency + peak types</a:t>
              </a:r>
            </a:p>
            <a:p>
              <a:pPr marL="171450" indent="-171450" algn="l">
                <a:buFont typeface="Arial" panose="020B0604020202020204" pitchFamily="34" charset="0"/>
                <a:buChar char="•"/>
              </a:pPr>
              <a:endParaRPr lang="en-US" sz="1200" dirty="0">
                <a:solidFill>
                  <a:srgbClr val="000000"/>
                </a:solidFill>
                <a:latin typeface="Arial" pitchFamily="34" charset="0"/>
                <a:ea typeface="Arial" pitchFamily="34" charset="-122"/>
                <a:cs typeface="Arial" pitchFamily="34" charset="-120"/>
              </a:endParaRPr>
            </a:p>
            <a:p>
              <a:pPr marL="171450" indent="-171450" algn="l">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SNI</a:t>
              </a:r>
            </a:p>
            <a:p>
              <a:pPr marL="171450" indent="-171450" algn="l">
                <a:buFont typeface="Arial" panose="020B0604020202020204" pitchFamily="34" charset="0"/>
                <a:buChar char="•"/>
              </a:pPr>
              <a:endParaRPr lang="en-US" sz="1200" dirty="0">
                <a:solidFill>
                  <a:srgbClr val="000000"/>
                </a:solidFill>
                <a:latin typeface="Arial" pitchFamily="34" charset="0"/>
                <a:ea typeface="Arial" pitchFamily="34" charset="-122"/>
                <a:cs typeface="Arial" pitchFamily="34" charset="-120"/>
              </a:endParaRPr>
            </a:p>
            <a:p>
              <a:pPr marL="171450" indent="-171450" algn="l">
                <a:buFont typeface="Arial" panose="020B0604020202020204" pitchFamily="34" charset="0"/>
                <a:buChar char="•"/>
              </a:pPr>
              <a:r>
                <a:rPr lang="en-US" sz="1200" dirty="0">
                  <a:solidFill>
                    <a:srgbClr val="000000"/>
                  </a:solidFill>
                  <a:latin typeface="Arial" pitchFamily="34" charset="0"/>
                  <a:ea typeface="Arial" pitchFamily="34" charset="-122"/>
                  <a:cs typeface="Arial" pitchFamily="34" charset="-120"/>
                </a:rPr>
                <a:t>Age-depth uncertainty ribbon.</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00000"/>
                </a:solidFill>
                <a:latin typeface="Arial" pitchFamily="34" charset="0"/>
                <a:ea typeface="Arial" pitchFamily="34" charset="-122"/>
                <a:cs typeface="Arial" pitchFamily="34" charset="-120"/>
              </a:rPr>
              <a:t>Adaptive matching window</a:t>
            </a:r>
            <a:endParaRPr lang="en-US" sz="2600" dirty="0"/>
          </a:p>
        </p:txBody>
      </p:sp>
      <p:sp>
        <p:nvSpPr>
          <p:cNvPr id="3" name="Shape 1"/>
          <p:cNvSpPr/>
          <p:nvPr/>
        </p:nvSpPr>
        <p:spPr>
          <a:xfrm flipV="1">
            <a:off x="457199" y="782066"/>
            <a:ext cx="4267203" cy="53594"/>
          </a:xfrm>
          <a:prstGeom prst="rect">
            <a:avLst/>
          </a:prstGeom>
          <a:solidFill>
            <a:srgbClr val="888888"/>
          </a:solidFill>
          <a:ln w="12700">
            <a:solidFill>
              <a:srgbClr val="888888"/>
            </a:solidFill>
            <a:prstDash val="solid"/>
          </a:ln>
        </p:spPr>
        <p:txBody>
          <a:bodyPr/>
          <a:lstStyle/>
          <a:p>
            <a:endParaRPr lang="en-US"/>
          </a:p>
        </p:txBody>
      </p:sp>
      <p:sp>
        <p:nvSpPr>
          <p:cNvPr id="4" name="Text 2"/>
          <p:cNvSpPr/>
          <p:nvPr/>
        </p:nvSpPr>
        <p:spPr>
          <a:xfrm>
            <a:off x="457200" y="1005840"/>
            <a:ext cx="4114800" cy="731520"/>
          </a:xfrm>
          <a:prstGeom prst="rect">
            <a:avLst/>
          </a:prstGeom>
          <a:noFill/>
          <a:ln/>
        </p:spPr>
        <p:txBody>
          <a:bodyPr wrap="square" lIns="0" tIns="0" rIns="0" bIns="0" rtlCol="0" anchor="t"/>
          <a:lstStyle/>
          <a:p>
            <a:pPr marL="0" indent="0" algn="l">
              <a:buNone/>
            </a:pPr>
            <a:r>
              <a:rPr lang="en-US" sz="1100" dirty="0">
                <a:solidFill>
                  <a:srgbClr val="000000"/>
                </a:solidFill>
                <a:latin typeface="Arial" pitchFamily="34" charset="0"/>
                <a:ea typeface="Arial" pitchFamily="34" charset="-122"/>
                <a:cs typeface="Arial" pitchFamily="34" charset="-120"/>
              </a:rPr>
              <a:t>For each benchmark peak k, the matching window defines how far an ensemble detection can lie and still be attributed to the same fire event:</a:t>
            </a:r>
            <a:endParaRPr lang="en-US" sz="1100" dirty="0"/>
          </a:p>
        </p:txBody>
      </p:sp>
      <p:sp>
        <p:nvSpPr>
          <p:cNvPr id="5" name="Shape 3"/>
          <p:cNvSpPr/>
          <p:nvPr/>
        </p:nvSpPr>
        <p:spPr>
          <a:xfrm>
            <a:off x="769620" y="1783080"/>
            <a:ext cx="3185160" cy="320040"/>
          </a:xfrm>
          <a:prstGeom prst="roundRect">
            <a:avLst>
              <a:gd name="adj" fmla="val 9412"/>
            </a:avLst>
          </a:prstGeom>
          <a:solidFill>
            <a:srgbClr val="EEF3F8"/>
          </a:solidFill>
          <a:ln w="19050">
            <a:solidFill>
              <a:srgbClr val="888888"/>
            </a:solidFill>
            <a:prstDash val="solid"/>
          </a:ln>
        </p:spPr>
        <p:txBody>
          <a:bodyPr/>
          <a:lstStyle/>
          <a:p>
            <a:endParaRPr lang="en-US"/>
          </a:p>
        </p:txBody>
      </p:sp>
      <p:sp>
        <p:nvSpPr>
          <p:cNvPr id="6" name="Text 4"/>
          <p:cNvSpPr/>
          <p:nvPr/>
        </p:nvSpPr>
        <p:spPr>
          <a:xfrm>
            <a:off x="457199" y="1783080"/>
            <a:ext cx="3784601" cy="320040"/>
          </a:xfrm>
          <a:prstGeom prst="rect">
            <a:avLst/>
          </a:prstGeom>
          <a:noFill/>
          <a:ln/>
        </p:spPr>
        <p:txBody>
          <a:bodyPr wrap="square" lIns="0" tIns="0" rIns="0" bIns="0" rtlCol="0" anchor="ctr"/>
          <a:lstStyle/>
          <a:p>
            <a:pPr algn="ctr"/>
            <a:r>
              <a:rPr lang="en-US" sz="1200" b="1"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window</a:t>
            </a:r>
            <a:r>
              <a:rPr lang="en-US" sz="1200" b="1" baseline="-250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k</a:t>
            </a:r>
            <a:r>
              <a:rPr lang="en-US" sz="1200" b="1"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 = max(</a:t>
            </a:r>
            <a:r>
              <a:rPr lang="en-US" sz="1200" b="1"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mFRI</a:t>
            </a:r>
            <a:r>
              <a:rPr lang="en-US" sz="1200" b="1" baseline="-250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z</a:t>
            </a:r>
            <a:r>
              <a:rPr lang="en-US" sz="1200" b="1"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/2, CI</a:t>
            </a:r>
            <a:r>
              <a:rPr lang="en-US" sz="1200" b="1" baseline="-25000"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95,k</a:t>
            </a:r>
            <a:r>
              <a:rPr lang="en-US" sz="1200" b="1" dirty="0">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/2)</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Text 5"/>
          <p:cNvSpPr/>
          <p:nvPr/>
        </p:nvSpPr>
        <p:spPr>
          <a:xfrm>
            <a:off x="457199" y="2334260"/>
            <a:ext cx="4114801" cy="2194560"/>
          </a:xfrm>
          <a:prstGeom prst="rect">
            <a:avLst/>
          </a:prstGeom>
          <a:noFill/>
          <a:ln/>
        </p:spPr>
        <p:txBody>
          <a:bodyPr wrap="square" lIns="0" tIns="0" rIns="0" bIns="0" rtlCol="0" anchor="t"/>
          <a:lstStyle/>
          <a:p>
            <a:r>
              <a:rPr lang="en-US" sz="1100" b="1" dirty="0" err="1">
                <a:solidFill>
                  <a:srgbClr val="000000"/>
                </a:solidFill>
                <a:latin typeface="Arial" pitchFamily="34" charset="0"/>
                <a:ea typeface="Arial" pitchFamily="34" charset="-122"/>
                <a:cs typeface="Arial" pitchFamily="34" charset="-120"/>
              </a:rPr>
              <a:t>mFRI</a:t>
            </a:r>
            <a:r>
              <a:rPr lang="en-US" sz="1050" b="1" baseline="-250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z</a:t>
            </a:r>
            <a:r>
              <a:rPr lang="en-US" sz="1100" dirty="0">
                <a:solidFill>
                  <a:srgbClr val="000000"/>
                </a:solidFill>
                <a:latin typeface="Arial" pitchFamily="34" charset="0"/>
                <a:ea typeface="Arial" pitchFamily="34" charset="-122"/>
                <a:cs typeface="Arial" pitchFamily="34" charset="-120"/>
              </a:rPr>
              <a:t> - mean FRI for the zone containing peak k</a:t>
            </a:r>
            <a:endParaRPr lang="en-US" sz="1100" dirty="0"/>
          </a:p>
          <a:p>
            <a:pPr marL="0" indent="0" algn="l">
              <a:buNone/>
            </a:pPr>
            <a:r>
              <a:rPr lang="en-US" sz="1100" b="1" dirty="0">
                <a:solidFill>
                  <a:srgbClr val="000000"/>
                </a:solidFill>
                <a:latin typeface="Arial" pitchFamily="34" charset="0"/>
                <a:ea typeface="Arial" pitchFamily="34" charset="-122"/>
                <a:cs typeface="Arial" pitchFamily="34" charset="-120"/>
              </a:rPr>
              <a:t>CI</a:t>
            </a:r>
            <a:r>
              <a:rPr lang="en-US" sz="1100" b="1" baseline="-25000" dirty="0">
                <a:solidFill>
                  <a:srgbClr val="000000"/>
                </a:solidFill>
                <a:latin typeface="Arial" pitchFamily="34" charset="0"/>
                <a:ea typeface="Arial" pitchFamily="34" charset="-122"/>
                <a:cs typeface="Arial" pitchFamily="34" charset="-120"/>
              </a:rPr>
              <a:t>95,k</a:t>
            </a:r>
            <a:r>
              <a:rPr lang="en-US" sz="1100" dirty="0">
                <a:solidFill>
                  <a:srgbClr val="000000"/>
                </a:solidFill>
                <a:latin typeface="Arial" pitchFamily="34" charset="0"/>
                <a:ea typeface="Arial" pitchFamily="34" charset="-122"/>
                <a:cs typeface="Arial" pitchFamily="34" charset="-120"/>
              </a:rPr>
              <a:t>  - 95% width of chronological uncertainty at peak k</a:t>
            </a:r>
            <a:endParaRPr lang="en-US" sz="1100" dirty="0"/>
          </a:p>
          <a:p>
            <a:pPr marL="0" indent="0" algn="l">
              <a:buNone/>
            </a:pPr>
            <a:r>
              <a:rPr lang="en-US" sz="1100" dirty="0">
                <a:solidFill>
                  <a:srgbClr val="000000"/>
                </a:solidFill>
                <a:latin typeface="Arial" pitchFamily="34" charset="0"/>
                <a:ea typeface="Arial" pitchFamily="34" charset="-122"/>
                <a:cs typeface="Arial" pitchFamily="34" charset="-120"/>
              </a:rPr>
              <a:t> </a:t>
            </a:r>
            <a:endParaRPr lang="en-US" sz="1100" dirty="0"/>
          </a:p>
          <a:p>
            <a:r>
              <a:rPr lang="en-US" sz="1100" b="1" dirty="0" err="1">
                <a:solidFill>
                  <a:srgbClr val="000000"/>
                </a:solidFill>
                <a:latin typeface="Arial" pitchFamily="34" charset="0"/>
                <a:ea typeface="Arial" pitchFamily="34" charset="-122"/>
                <a:cs typeface="Arial" pitchFamily="34" charset="-120"/>
              </a:rPr>
              <a:t>mFRI</a:t>
            </a:r>
            <a:r>
              <a:rPr lang="en-US" sz="1100" b="1" baseline="-250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z</a:t>
            </a:r>
            <a:r>
              <a:rPr lang="en-US" sz="1100" b="1" dirty="0">
                <a:solidFill>
                  <a:srgbClr val="000000"/>
                </a:solidFill>
                <a:latin typeface="Arial" pitchFamily="34" charset="0"/>
                <a:ea typeface="Arial" pitchFamily="34" charset="-122"/>
                <a:cs typeface="Arial" pitchFamily="34" charset="-120"/>
              </a:rPr>
              <a:t>/2:</a:t>
            </a:r>
            <a:r>
              <a:rPr lang="en-US" sz="1100" dirty="0">
                <a:solidFill>
                  <a:srgbClr val="000000"/>
                </a:solidFill>
                <a:latin typeface="Arial" pitchFamily="34" charset="0"/>
                <a:ea typeface="Arial" pitchFamily="34" charset="-122"/>
                <a:cs typeface="Arial" pitchFamily="34" charset="-120"/>
              </a:rPr>
              <a:t>  once a peak shifts &gt; half the mean FRI, it is considered to be a different event</a:t>
            </a:r>
            <a:endParaRPr lang="en-US" sz="1100" dirty="0"/>
          </a:p>
          <a:p>
            <a:pPr marL="0" indent="0" algn="l">
              <a:buNone/>
            </a:pPr>
            <a:r>
              <a:rPr lang="en-US" sz="1100" dirty="0">
                <a:solidFill>
                  <a:srgbClr val="000000"/>
                </a:solidFill>
                <a:latin typeface="Arial" pitchFamily="34" charset="0"/>
                <a:ea typeface="Arial" pitchFamily="34" charset="-122"/>
                <a:cs typeface="Arial" pitchFamily="34" charset="-120"/>
              </a:rPr>
              <a:t> </a:t>
            </a:r>
            <a:endParaRPr lang="en-US" sz="1100" dirty="0"/>
          </a:p>
          <a:p>
            <a:r>
              <a:rPr lang="en-US" sz="1100" b="1" dirty="0">
                <a:solidFill>
                  <a:srgbClr val="000000"/>
                </a:solidFill>
                <a:latin typeface="Arial" pitchFamily="34" charset="0"/>
                <a:ea typeface="Arial" pitchFamily="34" charset="-122"/>
                <a:cs typeface="Arial" pitchFamily="34" charset="-120"/>
              </a:rPr>
              <a:t>CI</a:t>
            </a:r>
            <a:r>
              <a:rPr lang="en-US" sz="1100" b="1" baseline="-25000" dirty="0">
                <a:solidFill>
                  <a:srgbClr val="000000"/>
                </a:solidFill>
                <a:latin typeface="Arial" pitchFamily="34" charset="0"/>
                <a:ea typeface="Arial" pitchFamily="34" charset="-122"/>
                <a:cs typeface="Arial" pitchFamily="34" charset="-120"/>
              </a:rPr>
              <a:t>95,k</a:t>
            </a:r>
            <a:r>
              <a:rPr lang="en-US" sz="1100" b="1" dirty="0">
                <a:solidFill>
                  <a:srgbClr val="000000"/>
                </a:solidFill>
                <a:latin typeface="Arial" pitchFamily="34" charset="0"/>
                <a:ea typeface="Arial" pitchFamily="34" charset="-122"/>
                <a:cs typeface="Arial" pitchFamily="34" charset="-120"/>
              </a:rPr>
              <a:t>/2:</a:t>
            </a:r>
            <a:r>
              <a:rPr lang="en-US" sz="1100" dirty="0">
                <a:solidFill>
                  <a:srgbClr val="000000"/>
                </a:solidFill>
                <a:latin typeface="Arial" pitchFamily="34" charset="0"/>
                <a:ea typeface="Arial" pitchFamily="34" charset="-122"/>
                <a:cs typeface="Arial" pitchFamily="34" charset="-120"/>
              </a:rPr>
              <a:t>  expands window where chronology is poorly constrained. Ensemble detections of the same peak, shifted by an uncertain chronology, are still correctly attributed</a:t>
            </a:r>
            <a:endParaRPr lang="en-US" sz="1100" dirty="0"/>
          </a:p>
          <a:p>
            <a:pPr marL="0" indent="0" algn="l">
              <a:buNone/>
            </a:pPr>
            <a:r>
              <a:rPr lang="en-US" sz="1100" dirty="0">
                <a:solidFill>
                  <a:srgbClr val="000000"/>
                </a:solidFill>
                <a:latin typeface="Arial" pitchFamily="34" charset="0"/>
                <a:ea typeface="Arial" pitchFamily="34" charset="-122"/>
                <a:cs typeface="Arial" pitchFamily="34" charset="-120"/>
              </a:rPr>
              <a:t> </a:t>
            </a:r>
            <a:endParaRPr lang="en-US" sz="1100" dirty="0"/>
          </a:p>
          <a:p>
            <a:r>
              <a:rPr lang="en-US" sz="1100" dirty="0">
                <a:solidFill>
                  <a:srgbClr val="000000"/>
                </a:solidFill>
                <a:latin typeface="Arial" pitchFamily="34" charset="0"/>
                <a:ea typeface="Arial" pitchFamily="34" charset="-122"/>
                <a:cs typeface="Arial" pitchFamily="34" charset="-120"/>
              </a:rPr>
              <a:t>In practice,</a:t>
            </a:r>
            <a:r>
              <a:rPr lang="en-US" sz="1100" b="1" dirty="0">
                <a:solidFill>
                  <a:srgbClr val="000000"/>
                </a:solidFill>
                <a:latin typeface="Arial" pitchFamily="34" charset="0"/>
                <a:ea typeface="Arial" pitchFamily="34" charset="-122"/>
                <a:cs typeface="Arial" pitchFamily="34" charset="-120"/>
              </a:rPr>
              <a:t> CI</a:t>
            </a:r>
            <a:r>
              <a:rPr lang="en-US" sz="1100" b="1" baseline="-25000" dirty="0">
                <a:solidFill>
                  <a:srgbClr val="000000"/>
                </a:solidFill>
                <a:latin typeface="Arial" pitchFamily="34" charset="0"/>
                <a:ea typeface="Arial" pitchFamily="34" charset="-122"/>
                <a:cs typeface="Arial" pitchFamily="34" charset="-120"/>
              </a:rPr>
              <a:t>95,k</a:t>
            </a:r>
            <a:r>
              <a:rPr lang="en-US" sz="1100" b="1" dirty="0">
                <a:solidFill>
                  <a:srgbClr val="000000"/>
                </a:solidFill>
                <a:latin typeface="Arial" pitchFamily="34" charset="0"/>
                <a:ea typeface="Arial" pitchFamily="34" charset="-122"/>
                <a:cs typeface="Arial" pitchFamily="34" charset="-120"/>
              </a:rPr>
              <a:t>/2 should define windows in most records;</a:t>
            </a:r>
            <a:r>
              <a:rPr lang="en-US" sz="1100" dirty="0">
                <a:solidFill>
                  <a:srgbClr val="000000"/>
                </a:solidFill>
                <a:latin typeface="Arial" pitchFamily="34" charset="0"/>
                <a:ea typeface="Arial" pitchFamily="34" charset="-122"/>
                <a:cs typeface="Arial" pitchFamily="34" charset="-120"/>
              </a:rPr>
              <a:t> </a:t>
            </a:r>
            <a:r>
              <a:rPr lang="en-US" sz="1100" dirty="0" err="1">
                <a:solidFill>
                  <a:srgbClr val="000000"/>
                </a:solidFill>
                <a:latin typeface="Arial" pitchFamily="34" charset="0"/>
                <a:ea typeface="Arial" pitchFamily="34" charset="-122"/>
                <a:cs typeface="Arial" pitchFamily="34" charset="-120"/>
              </a:rPr>
              <a:t>mFRI</a:t>
            </a:r>
            <a:r>
              <a:rPr lang="en-US" sz="1100" baseline="-25000" dirty="0" err="1">
                <a:solidFill>
                  <a:srgbClr val="000000"/>
                </a:solidFill>
                <a:latin typeface="Cascadia Code" panose="020B0609020000020004" pitchFamily="49" charset="0"/>
                <a:ea typeface="Cascadia Code" panose="020B0609020000020004" pitchFamily="49" charset="0"/>
                <a:cs typeface="Cascadia Code" panose="020B0609020000020004" pitchFamily="49" charset="0"/>
              </a:rPr>
              <a:t>z</a:t>
            </a:r>
            <a:r>
              <a:rPr lang="en-US" sz="1100" dirty="0">
                <a:solidFill>
                  <a:srgbClr val="000000"/>
                </a:solidFill>
                <a:latin typeface="Arial" pitchFamily="34" charset="0"/>
                <a:ea typeface="Arial" pitchFamily="34" charset="-122"/>
                <a:cs typeface="Arial" pitchFamily="34" charset="-120"/>
              </a:rPr>
              <a:t>/2 is a min. bound in well-constrained records (e.g., CH10).</a:t>
            </a:r>
            <a:endParaRPr lang="en-US" sz="1100" dirty="0"/>
          </a:p>
        </p:txBody>
      </p:sp>
      <p:sp>
        <p:nvSpPr>
          <p:cNvPr id="9" name="Text 6"/>
          <p:cNvSpPr/>
          <p:nvPr/>
        </p:nvSpPr>
        <p:spPr>
          <a:xfrm>
            <a:off x="4241800" y="4583938"/>
            <a:ext cx="1800860" cy="565912"/>
          </a:xfrm>
          <a:prstGeom prst="rect">
            <a:avLst/>
          </a:prstGeom>
          <a:noFill/>
          <a:ln/>
        </p:spPr>
        <p:txBody>
          <a:bodyPr wrap="square" lIns="0" tIns="0" rIns="0" bIns="0" rtlCol="0" anchor="t"/>
          <a:lstStyle/>
          <a:p>
            <a:pPr marL="0" indent="0" algn="ctr">
              <a:buNone/>
            </a:pPr>
            <a:r>
              <a:rPr lang="en-US" sz="1200" b="1" dirty="0">
                <a:solidFill>
                  <a:srgbClr val="7F7F7F"/>
                </a:solidFill>
                <a:latin typeface="Arial" pitchFamily="34" charset="0"/>
                <a:ea typeface="Arial" pitchFamily="34" charset="-122"/>
                <a:cs typeface="Arial" pitchFamily="34" charset="-120"/>
              </a:rPr>
              <a:t>Matched peaks (black) Unmatched (white)</a:t>
            </a:r>
            <a:endParaRPr lang="en-US" sz="1200" b="1" dirty="0">
              <a:solidFill>
                <a:srgbClr val="7F7F7F"/>
              </a:solidFill>
            </a:endParaRPr>
          </a:p>
        </p:txBody>
      </p:sp>
      <p:pic>
        <p:nvPicPr>
          <p:cNvPr id="11" name="Picture 10">
            <a:extLst>
              <a:ext uri="{FF2B5EF4-FFF2-40B4-BE49-F238E27FC236}">
                <a16:creationId xmlns:a16="http://schemas.microsoft.com/office/drawing/2014/main" id="{FD86CD2C-6593-623C-91EF-9FB8F4E1F5DE}"/>
              </a:ext>
            </a:extLst>
          </p:cNvPr>
          <p:cNvPicPr>
            <a:picLocks noChangeAspect="1"/>
          </p:cNvPicPr>
          <p:nvPr/>
        </p:nvPicPr>
        <p:blipFill>
          <a:blip r:embed="rId3"/>
          <a:stretch>
            <a:fillRect/>
          </a:stretch>
        </p:blipFill>
        <p:spPr>
          <a:xfrm>
            <a:off x="6042660" y="0"/>
            <a:ext cx="3086100" cy="5143500"/>
          </a:xfrm>
          <a:prstGeom prst="rect">
            <a:avLst/>
          </a:prstGeom>
        </p:spPr>
      </p:pic>
      <p:sp>
        <p:nvSpPr>
          <p:cNvPr id="12" name="Text 6">
            <a:extLst>
              <a:ext uri="{FF2B5EF4-FFF2-40B4-BE49-F238E27FC236}">
                <a16:creationId xmlns:a16="http://schemas.microsoft.com/office/drawing/2014/main" id="{77BA33EA-70A5-573D-9D17-25E703DB84B5}"/>
              </a:ext>
            </a:extLst>
          </p:cNvPr>
          <p:cNvSpPr/>
          <p:nvPr/>
        </p:nvSpPr>
        <p:spPr>
          <a:xfrm>
            <a:off x="4838702" y="109728"/>
            <a:ext cx="1417318" cy="672338"/>
          </a:xfrm>
          <a:prstGeom prst="rect">
            <a:avLst/>
          </a:prstGeom>
          <a:noFill/>
          <a:ln/>
        </p:spPr>
        <p:txBody>
          <a:bodyPr wrap="square" lIns="0" tIns="0" rIns="0" bIns="0" rtlCol="0" anchor="t"/>
          <a:lstStyle/>
          <a:p>
            <a:pPr marL="0" indent="0" algn="ctr">
              <a:buNone/>
            </a:pPr>
            <a:r>
              <a:rPr lang="en-US" sz="1400" b="1" dirty="0">
                <a:solidFill>
                  <a:schemeClr val="bg1">
                    <a:lumMod val="50000"/>
                  </a:schemeClr>
                </a:solidFill>
                <a:latin typeface="Arial" pitchFamily="34" charset="0"/>
                <a:ea typeface="Arial" pitchFamily="34" charset="-122"/>
                <a:cs typeface="Arial" pitchFamily="34" charset="-120"/>
              </a:rPr>
              <a:t>Chickaree Lake </a:t>
            </a:r>
            <a:r>
              <a:rPr lang="en-US" sz="1400" b="1" i="1" dirty="0" err="1">
                <a:solidFill>
                  <a:schemeClr val="bg1">
                    <a:lumMod val="50000"/>
                  </a:schemeClr>
                </a:solidFill>
                <a:latin typeface="Arial" pitchFamily="34" charset="0"/>
                <a:ea typeface="Arial" pitchFamily="34" charset="-122"/>
                <a:cs typeface="Arial" pitchFamily="34" charset="-120"/>
              </a:rPr>
              <a:t>CharAnalysis</a:t>
            </a:r>
            <a:r>
              <a:rPr lang="en-US" sz="1400" b="1" i="1" dirty="0">
                <a:solidFill>
                  <a:schemeClr val="bg1">
                    <a:lumMod val="50000"/>
                  </a:schemeClr>
                </a:solidFill>
                <a:latin typeface="Arial" pitchFamily="34" charset="0"/>
                <a:ea typeface="Arial" pitchFamily="34" charset="-122"/>
                <a:cs typeface="Arial" pitchFamily="34" charset="-120"/>
              </a:rPr>
              <a:t> </a:t>
            </a:r>
            <a:r>
              <a:rPr lang="en-US" sz="1400" b="1" dirty="0">
                <a:solidFill>
                  <a:schemeClr val="bg1">
                    <a:lumMod val="50000"/>
                  </a:schemeClr>
                </a:solidFill>
                <a:latin typeface="Arial" pitchFamily="34" charset="0"/>
                <a:ea typeface="Arial" pitchFamily="34" charset="-122"/>
                <a:cs typeface="Arial" pitchFamily="34" charset="-120"/>
              </a:rPr>
              <a:t>(benchmark)</a:t>
            </a:r>
            <a:endParaRPr lang="en-US" sz="1400" b="1" dirty="0">
              <a:solidFill>
                <a:schemeClr val="bg1">
                  <a:lumMod val="50000"/>
                </a:schemeClr>
              </a:solidFill>
            </a:endParaRPr>
          </a:p>
        </p:txBody>
      </p:sp>
      <p:sp>
        <p:nvSpPr>
          <p:cNvPr id="13" name="Text 6">
            <a:extLst>
              <a:ext uri="{FF2B5EF4-FFF2-40B4-BE49-F238E27FC236}">
                <a16:creationId xmlns:a16="http://schemas.microsoft.com/office/drawing/2014/main" id="{DFB4FF2D-6422-3001-06F5-02AA7792048D}"/>
              </a:ext>
            </a:extLst>
          </p:cNvPr>
          <p:cNvSpPr/>
          <p:nvPr/>
        </p:nvSpPr>
        <p:spPr>
          <a:xfrm>
            <a:off x="4749800" y="2373630"/>
            <a:ext cx="1155698" cy="672338"/>
          </a:xfrm>
          <a:prstGeom prst="rect">
            <a:avLst/>
          </a:prstGeom>
          <a:noFill/>
          <a:ln/>
        </p:spPr>
        <p:txBody>
          <a:bodyPr wrap="square" lIns="0" tIns="0" rIns="0" bIns="0" rtlCol="0" anchor="t"/>
          <a:lstStyle/>
          <a:p>
            <a:pPr marL="0" indent="0" algn="ctr">
              <a:buNone/>
            </a:pPr>
            <a:r>
              <a:rPr lang="en-US" sz="1400" b="1" dirty="0">
                <a:solidFill>
                  <a:schemeClr val="bg1">
                    <a:lumMod val="50000"/>
                  </a:schemeClr>
                </a:solidFill>
                <a:latin typeface="Arial" panose="020B0604020202020204" pitchFamily="34" charset="0"/>
                <a:ea typeface="Arial" pitchFamily="34" charset="-122"/>
                <a:cs typeface="Arial" panose="020B0604020202020204" pitchFamily="34" charset="0"/>
              </a:rPr>
              <a:t>Iteration i,</a:t>
            </a:r>
          </a:p>
          <a:p>
            <a:pPr marL="0" indent="0" algn="ctr">
              <a:buNone/>
            </a:pPr>
            <a:r>
              <a:rPr lang="en-US" sz="1100" dirty="0">
                <a:solidFill>
                  <a:schemeClr val="bg1">
                    <a:lumMod val="50000"/>
                  </a:schemeClr>
                </a:solidFill>
                <a:latin typeface="Arial" panose="020B0604020202020204" pitchFamily="34" charset="0"/>
                <a:cs typeface="Arial" panose="020B0604020202020204" pitchFamily="34" charset="0"/>
              </a:rPr>
              <a:t>with search windows</a:t>
            </a:r>
          </a:p>
        </p:txBody>
      </p:sp>
      <p:sp>
        <p:nvSpPr>
          <p:cNvPr id="14" name="Left Brace 13">
            <a:extLst>
              <a:ext uri="{FF2B5EF4-FFF2-40B4-BE49-F238E27FC236}">
                <a16:creationId xmlns:a16="http://schemas.microsoft.com/office/drawing/2014/main" id="{8153DE35-6347-0462-6B5E-B9E7F17EAC08}"/>
              </a:ext>
            </a:extLst>
          </p:cNvPr>
          <p:cNvSpPr/>
          <p:nvPr/>
        </p:nvSpPr>
        <p:spPr>
          <a:xfrm>
            <a:off x="5864860" y="1196340"/>
            <a:ext cx="261620" cy="297154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00000"/>
                </a:solidFill>
                <a:latin typeface="Arial" pitchFamily="34" charset="0"/>
                <a:ea typeface="Arial" pitchFamily="34" charset="-122"/>
                <a:cs typeface="Arial" pitchFamily="34" charset="-120"/>
              </a:rPr>
              <a:t>Site examples: CH10 and SI17</a:t>
            </a:r>
            <a:endParaRPr lang="en-US" sz="2600" dirty="0"/>
          </a:p>
        </p:txBody>
      </p:sp>
      <p:sp>
        <p:nvSpPr>
          <p:cNvPr id="3" name="Shape 1"/>
          <p:cNvSpPr/>
          <p:nvPr/>
        </p:nvSpPr>
        <p:spPr>
          <a:xfrm>
            <a:off x="457200" y="850392"/>
            <a:ext cx="8229600" cy="36576"/>
          </a:xfrm>
          <a:prstGeom prst="rect">
            <a:avLst/>
          </a:prstGeom>
          <a:solidFill>
            <a:srgbClr val="888888"/>
          </a:solidFill>
          <a:ln w="12700">
            <a:solidFill>
              <a:srgbClr val="888888"/>
            </a:solidFill>
            <a:prstDash val="solid"/>
          </a:ln>
        </p:spPr>
        <p:txBody>
          <a:bodyPr/>
          <a:lstStyle/>
          <a:p>
            <a:endParaRPr lang="en-US"/>
          </a:p>
        </p:txBody>
      </p:sp>
      <p:graphicFrame>
        <p:nvGraphicFramePr>
          <p:cNvPr id="9" name="Table 0"/>
          <p:cNvGraphicFramePr>
            <a:graphicFrameLocks noGrp="1"/>
          </p:cNvGraphicFramePr>
          <p:nvPr>
            <p:extLst>
              <p:ext uri="{D42A27DB-BD31-4B8C-83A1-F6EECF244321}">
                <p14:modId xmlns:p14="http://schemas.microsoft.com/office/powerpoint/2010/main" val="1630737673"/>
              </p:ext>
            </p:extLst>
          </p:nvPr>
        </p:nvGraphicFramePr>
        <p:xfrm>
          <a:off x="457200" y="960120"/>
          <a:ext cx="4770120" cy="3230880"/>
        </p:xfrm>
        <a:graphic>
          <a:graphicData uri="http://schemas.openxmlformats.org/drawingml/2006/table">
            <a:tbl>
              <a:tblPr/>
              <a:tblGrid>
                <a:gridCol w="1964167">
                  <a:extLst>
                    <a:ext uri="{9D8B030D-6E8A-4147-A177-3AD203B41FA5}">
                      <a16:colId xmlns:a16="http://schemas.microsoft.com/office/drawing/2014/main" val="20000"/>
                    </a:ext>
                  </a:extLst>
                </a:gridCol>
                <a:gridCol w="1493784">
                  <a:extLst>
                    <a:ext uri="{9D8B030D-6E8A-4147-A177-3AD203B41FA5}">
                      <a16:colId xmlns:a16="http://schemas.microsoft.com/office/drawing/2014/main" val="20001"/>
                    </a:ext>
                  </a:extLst>
                </a:gridCol>
                <a:gridCol w="1312169">
                  <a:extLst>
                    <a:ext uri="{9D8B030D-6E8A-4147-A177-3AD203B41FA5}">
                      <a16:colId xmlns:a16="http://schemas.microsoft.com/office/drawing/2014/main" val="20002"/>
                    </a:ext>
                  </a:extLst>
                </a:gridCol>
              </a:tblGrid>
              <a:tr h="438912">
                <a:tc>
                  <a:txBody>
                    <a:bodyPr/>
                    <a:lstStyle/>
                    <a:p>
                      <a:pPr marL="0" indent="0">
                        <a:buNone/>
                      </a:pPr>
                      <a:endParaRPr lang="en-US" sz="1000" dirty="0">
                        <a:latin typeface="Arial" panose="020B0604020202020204" pitchFamily="34" charset="0"/>
                        <a:cs typeface="Arial" panose="020B0604020202020204" pitchFamily="34"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E8E8E8"/>
                    </a:solidFill>
                  </a:tcPr>
                </a:tc>
                <a:tc>
                  <a:txBody>
                    <a:bodyPr/>
                    <a:lstStyle/>
                    <a:p>
                      <a:pPr marL="0" indent="0" algn="ctr">
                        <a:buNone/>
                      </a:pPr>
                      <a:r>
                        <a:rPr lang="en-US" sz="1000" b="1" dirty="0">
                          <a:solidFill>
                            <a:srgbClr val="000000"/>
                          </a:solidFill>
                          <a:latin typeface="Arial" panose="020B0604020202020204" pitchFamily="34" charset="0"/>
                          <a:cs typeface="Arial" panose="020B0604020202020204" pitchFamily="34" charset="0"/>
                        </a:rPr>
                        <a:t>CH10</a:t>
                      </a:r>
                    </a:p>
                    <a:p>
                      <a:pPr marL="0" indent="0" algn="ctr">
                        <a:buNone/>
                      </a:pPr>
                      <a:r>
                        <a:rPr lang="en-US" sz="1000" b="1" dirty="0">
                          <a:solidFill>
                            <a:srgbClr val="000000"/>
                          </a:solidFill>
                          <a:latin typeface="Arial" panose="020B0604020202020204" pitchFamily="34" charset="0"/>
                          <a:cs typeface="Arial" panose="020B0604020202020204" pitchFamily="34" charset="0"/>
                        </a:rPr>
                        <a:t>(Chickaree Lake, CO)</a:t>
                      </a:r>
                      <a:endParaRPr lang="en-US" sz="1000" dirty="0">
                        <a:latin typeface="Arial" panose="020B0604020202020204" pitchFamily="34" charset="0"/>
                        <a:cs typeface="Arial" panose="020B0604020202020204" pitchFamily="34"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D8D8D8"/>
                    </a:solidFill>
                  </a:tcPr>
                </a:tc>
                <a:tc>
                  <a:txBody>
                    <a:bodyPr/>
                    <a:lstStyle/>
                    <a:p>
                      <a:pPr marL="0" indent="0" algn="ctr">
                        <a:buNone/>
                      </a:pPr>
                      <a:r>
                        <a:rPr lang="en-US" sz="1000" b="1" dirty="0">
                          <a:solidFill>
                            <a:srgbClr val="000000"/>
                          </a:solidFill>
                          <a:latin typeface="Arial" panose="020B0604020202020204" pitchFamily="34" charset="0"/>
                          <a:cs typeface="Arial" panose="020B0604020202020204" pitchFamily="34" charset="0"/>
                        </a:rPr>
                        <a:t>SI17</a:t>
                      </a:r>
                    </a:p>
                    <a:p>
                      <a:pPr marL="0" indent="0" algn="ctr">
                        <a:buNone/>
                      </a:pPr>
                      <a:r>
                        <a:rPr lang="en-US" sz="1000" b="1" dirty="0">
                          <a:solidFill>
                            <a:srgbClr val="000000"/>
                          </a:solidFill>
                          <a:latin typeface="Arial" panose="020B0604020202020204" pitchFamily="34" charset="0"/>
                          <a:cs typeface="Arial" panose="020B0604020202020204" pitchFamily="34" charset="0"/>
                        </a:rPr>
                        <a:t>(Silver Lake, MT)</a:t>
                      </a:r>
                      <a:endParaRPr lang="en-US" sz="1000" dirty="0">
                        <a:latin typeface="Arial" panose="020B0604020202020204" pitchFamily="34" charset="0"/>
                        <a:cs typeface="Arial" panose="020B0604020202020204" pitchFamily="34" charset="0"/>
                      </a:endParaRPr>
                    </a:p>
                  </a:txBody>
                  <a:tcP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solidFill>
                      <a:srgbClr val="D8D8D8"/>
                    </a:solidFill>
                  </a:tcPr>
                </a:tc>
                <a:extLst>
                  <a:ext uri="{0D108BD9-81ED-4DB2-BD59-A6C34878D82A}">
                    <a16:rowId xmlns:a16="http://schemas.microsoft.com/office/drawing/2014/main" val="10000"/>
                  </a:ext>
                </a:extLst>
              </a:tr>
              <a:tr h="384048">
                <a:tc>
                  <a:txBody>
                    <a:bodyPr/>
                    <a:lstStyle/>
                    <a:p>
                      <a:pPr marL="0" indent="0" algn="r">
                        <a:buNone/>
                      </a:pPr>
                      <a:r>
                        <a:rPr lang="en-US" sz="1000" b="1" dirty="0">
                          <a:solidFill>
                            <a:srgbClr val="000000"/>
                          </a:solidFill>
                          <a:latin typeface="Arial" panose="020B0604020202020204" pitchFamily="34" charset="0"/>
                          <a:cs typeface="Arial" panose="020B0604020202020204" pitchFamily="34" charset="0"/>
                        </a:rPr>
                        <a:t>Precision</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Unusually well-dated</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Less precisely dated</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r">
                        <a:buNone/>
                      </a:pPr>
                      <a:r>
                        <a:rPr lang="en-US" sz="1000" b="1" dirty="0">
                          <a:solidFill>
                            <a:srgbClr val="000000"/>
                          </a:solidFill>
                          <a:latin typeface="Arial" panose="020B0604020202020204" pitchFamily="34" charset="0"/>
                          <a:cs typeface="Arial" panose="020B0604020202020204" pitchFamily="34" charset="0"/>
                        </a:rPr>
                        <a:t>Benchmark peaks</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59</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25</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r">
                        <a:buNone/>
                      </a:pPr>
                      <a:r>
                        <a:rPr lang="en-US" sz="1000" b="1" dirty="0">
                          <a:solidFill>
                            <a:srgbClr val="000000"/>
                          </a:solidFill>
                          <a:latin typeface="Arial" panose="020B0604020202020204" pitchFamily="34" charset="0"/>
                          <a:cs typeface="Arial" panose="020B0604020202020204" pitchFamily="34" charset="0"/>
                        </a:rPr>
                        <a:t>Mean FRI</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104 yr</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193 yr</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r">
                        <a:buNone/>
                      </a:pPr>
                      <a:r>
                        <a:rPr lang="en-US" sz="1000" b="1" dirty="0">
                          <a:solidFill>
                            <a:srgbClr val="000000"/>
                          </a:solidFill>
                          <a:latin typeface="Arial" panose="020B0604020202020204" pitchFamily="34" charset="0"/>
                          <a:cs typeface="Arial" panose="020B0604020202020204" pitchFamily="34" charset="0"/>
                        </a:rPr>
                        <a:t>Matching window (median ±)</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±72 yr</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±162 yr</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r">
                        <a:buNone/>
                      </a:pPr>
                      <a:r>
                        <a:rPr lang="en-US" sz="1000" b="1" dirty="0">
                          <a:solidFill>
                            <a:srgbClr val="000000"/>
                          </a:solidFill>
                          <a:latin typeface="Arial" panose="020B0604020202020204" pitchFamily="34" charset="0"/>
                          <a:cs typeface="Arial" panose="020B0604020202020204" pitchFamily="34" charset="0"/>
                        </a:rPr>
                        <a:t>Detection freq (median)</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99%</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99%</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r">
                        <a:buNone/>
                      </a:pPr>
                      <a:r>
                        <a:rPr lang="en-US" sz="1000" b="1" dirty="0">
                          <a:solidFill>
                            <a:srgbClr val="000000"/>
                          </a:solidFill>
                          <a:latin typeface="Arial" panose="020B0604020202020204" pitchFamily="34" charset="0"/>
                          <a:cs typeface="Arial" panose="020B0604020202020204" pitchFamily="34" charset="0"/>
                        </a:rPr>
                        <a:t>Timing SD (median)</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23 yr</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000000"/>
                          </a:solidFill>
                          <a:latin typeface="Arial" panose="020B0604020202020204" pitchFamily="34" charset="0"/>
                          <a:cs typeface="Arial" panose="020B0604020202020204" pitchFamily="34" charset="0"/>
                        </a:rPr>
                        <a:t>53 yr</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lgn="r">
                        <a:buNone/>
                      </a:pPr>
                      <a:r>
                        <a:rPr lang="en-US" sz="1000" b="1" dirty="0">
                          <a:solidFill>
                            <a:srgbClr val="000000"/>
                          </a:solidFill>
                          <a:latin typeface="Arial" panose="020B0604020202020204" pitchFamily="34" charset="0"/>
                          <a:cs typeface="Arial" panose="020B0604020202020204" pitchFamily="34" charset="0"/>
                        </a:rPr>
                        <a:t>Ensemble-only peaks</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333333"/>
                          </a:solidFill>
                          <a:latin typeface="Arial" panose="020B0604020202020204" pitchFamily="34" charset="0"/>
                          <a:cs typeface="Arial" panose="020B0604020202020204" pitchFamily="34" charset="0"/>
                        </a:rPr>
                        <a:t>9 (6 near-ref, 3 indep.)</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tc>
                  <a:txBody>
                    <a:bodyPr/>
                    <a:lstStyle/>
                    <a:p>
                      <a:pPr marL="0" indent="0" algn="ctr">
                        <a:buNone/>
                      </a:pPr>
                      <a:r>
                        <a:rPr lang="en-US" sz="1000" dirty="0">
                          <a:solidFill>
                            <a:srgbClr val="555555"/>
                          </a:solidFill>
                          <a:latin typeface="Arial" panose="020B0604020202020204" pitchFamily="34" charset="0"/>
                          <a:cs typeface="Arial" panose="020B0604020202020204" pitchFamily="34" charset="0"/>
                        </a:rPr>
                        <a:t>0 (coherence filter)</a:t>
                      </a:r>
                      <a:endParaRPr lang="en-US" sz="1000" dirty="0">
                        <a:latin typeface="Arial" panose="020B0604020202020204" pitchFamily="34" charset="0"/>
                        <a:cs typeface="Arial" panose="020B0604020202020204" pitchFamily="34" charset="0"/>
                      </a:endParaRPr>
                    </a:p>
                  </a:txBody>
                  <a:tcPr anchor="ctr">
                    <a:lnL w="6350" cap="flat" cmpd="sng" algn="ctr">
                      <a:solidFill>
                        <a:srgbClr val="D0D8E0"/>
                      </a:solidFill>
                      <a:prstDash val="solid"/>
                      <a:round/>
                      <a:headEnd type="none" w="med" len="med"/>
                      <a:tailEnd type="none" w="med" len="med"/>
                    </a:lnL>
                    <a:lnR w="6350" cap="flat" cmpd="sng" algn="ctr">
                      <a:solidFill>
                        <a:srgbClr val="D0D8E0"/>
                      </a:solidFill>
                      <a:prstDash val="solid"/>
                      <a:round/>
                      <a:headEnd type="none" w="med" len="med"/>
                      <a:tailEnd type="none" w="med" len="med"/>
                    </a:lnR>
                    <a:lnT w="6350" cap="flat" cmpd="sng" algn="ctr">
                      <a:solidFill>
                        <a:srgbClr val="D0D8E0"/>
                      </a:solidFill>
                      <a:prstDash val="solid"/>
                      <a:round/>
                      <a:headEnd type="none" w="med" len="med"/>
                      <a:tailEnd type="none" w="med" len="med"/>
                    </a:lnT>
                    <a:lnB w="6350" cap="flat" cmpd="sng" algn="ctr">
                      <a:solidFill>
                        <a:srgbClr val="D0D8E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5" name="Image 0" descr="/sessions/busy-practical-babbage/mnt/CharAnalysis/CharAnalysis_2_0_R/tests/agedepth_vignette.png"/>
          <p:cNvPicPr>
            <a:picLocks noChangeAspect="1"/>
          </p:cNvPicPr>
          <p:nvPr/>
        </p:nvPicPr>
        <p:blipFill>
          <a:blip r:embed="rId3"/>
          <a:srcRect/>
          <a:stretch/>
        </p:blipFill>
        <p:spPr>
          <a:xfrm>
            <a:off x="5303520" y="941070"/>
            <a:ext cx="3383280" cy="3200400"/>
          </a:xfrm>
          <a:prstGeom prst="rect">
            <a:avLst/>
          </a:prstGeom>
        </p:spPr>
      </p:pic>
      <p:sp>
        <p:nvSpPr>
          <p:cNvPr id="6" name="Text 2"/>
          <p:cNvSpPr/>
          <p:nvPr/>
        </p:nvSpPr>
        <p:spPr>
          <a:xfrm>
            <a:off x="5303520" y="4206240"/>
            <a:ext cx="3566160" cy="457200"/>
          </a:xfrm>
          <a:prstGeom prst="rect">
            <a:avLst/>
          </a:prstGeom>
          <a:noFill/>
          <a:ln/>
        </p:spPr>
        <p:txBody>
          <a:bodyPr wrap="square" lIns="0" tIns="0" rIns="0" bIns="0" rtlCol="0" anchor="t"/>
          <a:lstStyle/>
          <a:p>
            <a:pPr marL="0" indent="0" algn="ctr">
              <a:buNone/>
            </a:pPr>
            <a:r>
              <a:rPr lang="en-US" sz="1000" i="1" dirty="0">
                <a:solidFill>
                  <a:srgbClr val="555555"/>
                </a:solidFill>
                <a:latin typeface="Arial" pitchFamily="34" charset="0"/>
                <a:ea typeface="Arial" pitchFamily="34" charset="-122"/>
                <a:cs typeface="Arial" pitchFamily="34" charset="-120"/>
              </a:rPr>
              <a:t>Median chronology ± 95% CI. CH10: narrow, uniform. SI17: wider, variable near 1,000 cal yr BP.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lgn="l">
              <a:buNone/>
            </a:pPr>
            <a:r>
              <a:rPr lang="en-US" sz="2400" b="1" dirty="0">
                <a:solidFill>
                  <a:srgbClr val="000000"/>
                </a:solidFill>
                <a:latin typeface="Arial" pitchFamily="34" charset="0"/>
                <a:ea typeface="Arial" pitchFamily="34" charset="-122"/>
                <a:cs typeface="Arial" pitchFamily="34" charset="-120"/>
              </a:rPr>
              <a:t>CH10 — ensemble results</a:t>
            </a:r>
            <a:endParaRPr lang="en-US" sz="2400" dirty="0"/>
          </a:p>
        </p:txBody>
      </p:sp>
      <p:pic>
        <p:nvPicPr>
          <p:cNvPr id="6" name="Picture 5">
            <a:extLst>
              <a:ext uri="{FF2B5EF4-FFF2-40B4-BE49-F238E27FC236}">
                <a16:creationId xmlns:a16="http://schemas.microsoft.com/office/drawing/2014/main" id="{BFA7DDB8-1913-10DA-97B6-33C819757AC6}"/>
              </a:ext>
            </a:extLst>
          </p:cNvPr>
          <p:cNvPicPr>
            <a:picLocks noChangeAspect="1"/>
          </p:cNvPicPr>
          <p:nvPr/>
        </p:nvPicPr>
        <p:blipFill>
          <a:blip r:embed="rId3"/>
          <a:stretch>
            <a:fillRect/>
          </a:stretch>
        </p:blipFill>
        <p:spPr>
          <a:xfrm>
            <a:off x="5004201" y="0"/>
            <a:ext cx="3524717" cy="5143500"/>
          </a:xfrm>
          <a:prstGeom prst="rect">
            <a:avLst/>
          </a:prstGeom>
        </p:spPr>
      </p:pic>
      <p:sp>
        <p:nvSpPr>
          <p:cNvPr id="7" name="Text 6">
            <a:extLst>
              <a:ext uri="{FF2B5EF4-FFF2-40B4-BE49-F238E27FC236}">
                <a16:creationId xmlns:a16="http://schemas.microsoft.com/office/drawing/2014/main" id="{AA9F5583-5C85-374B-4691-AD877BA27518}"/>
              </a:ext>
            </a:extLst>
          </p:cNvPr>
          <p:cNvSpPr/>
          <p:nvPr/>
        </p:nvSpPr>
        <p:spPr>
          <a:xfrm>
            <a:off x="1323742" y="2127758"/>
            <a:ext cx="3524717" cy="565912"/>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Detection frequency, with 95% timing CI: </a:t>
            </a:r>
          </a:p>
          <a:p>
            <a:pPr marL="0" indent="0" algn="ctr">
              <a:buNone/>
            </a:pPr>
            <a:r>
              <a:rPr lang="en-US" sz="1100" dirty="0">
                <a:solidFill>
                  <a:schemeClr val="bg1">
                    <a:lumMod val="50000"/>
                  </a:schemeClr>
                </a:solidFill>
                <a:latin typeface="Arial" pitchFamily="34" charset="0"/>
                <a:ea typeface="Arial" pitchFamily="34" charset="-122"/>
                <a:cs typeface="Arial" pitchFamily="34" charset="-120"/>
              </a:rPr>
              <a:t>Reference peaks (black circles)</a:t>
            </a:r>
          </a:p>
          <a:p>
            <a:pPr marL="0" indent="0" algn="ctr">
              <a:buNone/>
            </a:pPr>
            <a:r>
              <a:rPr lang="en-US" sz="1100" dirty="0">
                <a:solidFill>
                  <a:schemeClr val="bg1">
                    <a:lumMod val="50000"/>
                  </a:schemeClr>
                </a:solidFill>
                <a:latin typeface="Arial" pitchFamily="34" charset="0"/>
                <a:ea typeface="Arial" pitchFamily="34" charset="-122"/>
                <a:cs typeface="Arial" pitchFamily="34" charset="-120"/>
              </a:rPr>
              <a:t>Ensemble-only: near reference (white circles)</a:t>
            </a:r>
          </a:p>
          <a:p>
            <a:pPr marL="0" indent="0" algn="ctr">
              <a:buNone/>
            </a:pPr>
            <a:r>
              <a:rPr lang="en-US" sz="1100" dirty="0">
                <a:solidFill>
                  <a:schemeClr val="bg1">
                    <a:lumMod val="50000"/>
                  </a:schemeClr>
                </a:solidFill>
                <a:latin typeface="Arial" pitchFamily="34" charset="0"/>
                <a:cs typeface="Arial" pitchFamily="34" charset="-120"/>
              </a:rPr>
              <a:t>Ensemble-only: independent (white diamonds)</a:t>
            </a:r>
            <a:endParaRPr lang="en-US" sz="1100" dirty="0">
              <a:solidFill>
                <a:schemeClr val="bg1">
                  <a:lumMod val="50000"/>
                </a:schemeClr>
              </a:solidFill>
            </a:endParaRPr>
          </a:p>
        </p:txBody>
      </p:sp>
      <p:sp>
        <p:nvSpPr>
          <p:cNvPr id="8" name="Text 6">
            <a:extLst>
              <a:ext uri="{FF2B5EF4-FFF2-40B4-BE49-F238E27FC236}">
                <a16:creationId xmlns:a16="http://schemas.microsoft.com/office/drawing/2014/main" id="{1CA3F19D-1BE9-32C5-4956-5111C17231B9}"/>
              </a:ext>
            </a:extLst>
          </p:cNvPr>
          <p:cNvSpPr/>
          <p:nvPr/>
        </p:nvSpPr>
        <p:spPr>
          <a:xfrm>
            <a:off x="3431141" y="777240"/>
            <a:ext cx="1417318" cy="330454"/>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Benchmark:</a:t>
            </a:r>
            <a:br>
              <a:rPr lang="en-US" sz="1400" b="1" dirty="0">
                <a:latin typeface="Arial" pitchFamily="34" charset="0"/>
                <a:ea typeface="Arial" pitchFamily="34" charset="-122"/>
                <a:cs typeface="Arial" pitchFamily="34" charset="-120"/>
              </a:rPr>
            </a:br>
            <a:endParaRPr lang="en-US" sz="1400" b="1" dirty="0"/>
          </a:p>
        </p:txBody>
      </p:sp>
      <p:sp>
        <p:nvSpPr>
          <p:cNvPr id="9" name="Text 6">
            <a:extLst>
              <a:ext uri="{FF2B5EF4-FFF2-40B4-BE49-F238E27FC236}">
                <a16:creationId xmlns:a16="http://schemas.microsoft.com/office/drawing/2014/main" id="{FF53127F-9E29-E1BD-8048-73DF2533BC2E}"/>
              </a:ext>
            </a:extLst>
          </p:cNvPr>
          <p:cNvSpPr/>
          <p:nvPr/>
        </p:nvSpPr>
        <p:spPr>
          <a:xfrm>
            <a:off x="3431141" y="3421888"/>
            <a:ext cx="1417318" cy="330454"/>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SNI:</a:t>
            </a:r>
            <a:endParaRPr lang="en-US" sz="1400" b="1" dirty="0"/>
          </a:p>
        </p:txBody>
      </p:sp>
      <p:sp>
        <p:nvSpPr>
          <p:cNvPr id="10" name="Text 6">
            <a:extLst>
              <a:ext uri="{FF2B5EF4-FFF2-40B4-BE49-F238E27FC236}">
                <a16:creationId xmlns:a16="http://schemas.microsoft.com/office/drawing/2014/main" id="{3299FCD9-65C6-3C9D-DEEC-8C7AF9FD8E9D}"/>
              </a:ext>
            </a:extLst>
          </p:cNvPr>
          <p:cNvSpPr/>
          <p:nvPr/>
        </p:nvSpPr>
        <p:spPr>
          <a:xfrm>
            <a:off x="3070860" y="4315333"/>
            <a:ext cx="1777599" cy="330454"/>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Age-depth 95% CI:</a:t>
            </a:r>
            <a:endParaRPr lang="en-US" sz="1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lIns="0" tIns="0" rIns="0" bIns="0" rtlCol="0" anchor="ctr"/>
          <a:lstStyle/>
          <a:p>
            <a:pPr marL="0" indent="0" algn="l">
              <a:buNone/>
            </a:pPr>
            <a:r>
              <a:rPr lang="en-US" sz="2400" b="1" dirty="0">
                <a:solidFill>
                  <a:srgbClr val="000000"/>
                </a:solidFill>
                <a:latin typeface="Arial" pitchFamily="34" charset="0"/>
                <a:ea typeface="Arial" pitchFamily="34" charset="-122"/>
                <a:cs typeface="Arial" pitchFamily="34" charset="-120"/>
              </a:rPr>
              <a:t>SI17 — ensemble results</a:t>
            </a:r>
            <a:endParaRPr lang="en-US" sz="2400" dirty="0"/>
          </a:p>
        </p:txBody>
      </p:sp>
      <p:sp>
        <p:nvSpPr>
          <p:cNvPr id="5" name="Text 6">
            <a:extLst>
              <a:ext uri="{FF2B5EF4-FFF2-40B4-BE49-F238E27FC236}">
                <a16:creationId xmlns:a16="http://schemas.microsoft.com/office/drawing/2014/main" id="{709DF221-2851-A2E2-8BE3-BFBAF3ABDA9B}"/>
              </a:ext>
            </a:extLst>
          </p:cNvPr>
          <p:cNvSpPr/>
          <p:nvPr/>
        </p:nvSpPr>
        <p:spPr>
          <a:xfrm>
            <a:off x="1323742" y="2127758"/>
            <a:ext cx="3524717" cy="565912"/>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Detection frequency, with 95% timing CI: </a:t>
            </a:r>
          </a:p>
          <a:p>
            <a:pPr marL="0" indent="0" algn="ctr">
              <a:buNone/>
            </a:pPr>
            <a:r>
              <a:rPr lang="en-US" sz="1100" dirty="0">
                <a:solidFill>
                  <a:schemeClr val="bg1">
                    <a:lumMod val="50000"/>
                  </a:schemeClr>
                </a:solidFill>
                <a:latin typeface="Arial" pitchFamily="34" charset="0"/>
                <a:ea typeface="Arial" pitchFamily="34" charset="-122"/>
                <a:cs typeface="Arial" pitchFamily="34" charset="-120"/>
              </a:rPr>
              <a:t>Reference peaks (black circles)</a:t>
            </a:r>
          </a:p>
          <a:p>
            <a:pPr marL="0" indent="0" algn="ctr">
              <a:buNone/>
            </a:pPr>
            <a:r>
              <a:rPr lang="en-US" sz="1100" dirty="0">
                <a:solidFill>
                  <a:schemeClr val="bg1">
                    <a:lumMod val="50000"/>
                  </a:schemeClr>
                </a:solidFill>
                <a:latin typeface="Arial" pitchFamily="34" charset="0"/>
                <a:ea typeface="Arial" pitchFamily="34" charset="-122"/>
                <a:cs typeface="Arial" pitchFamily="34" charset="-120"/>
              </a:rPr>
              <a:t>Ensemble-only: near reference (NONE)</a:t>
            </a:r>
          </a:p>
          <a:p>
            <a:pPr algn="ctr"/>
            <a:r>
              <a:rPr lang="en-US" sz="1100" dirty="0">
                <a:solidFill>
                  <a:schemeClr val="bg1">
                    <a:lumMod val="50000"/>
                  </a:schemeClr>
                </a:solidFill>
                <a:latin typeface="Arial" pitchFamily="34" charset="0"/>
                <a:cs typeface="Arial" pitchFamily="34" charset="-120"/>
              </a:rPr>
              <a:t>Ensemble-only: independent (</a:t>
            </a:r>
            <a:r>
              <a:rPr lang="en-US" sz="1100" dirty="0">
                <a:solidFill>
                  <a:schemeClr val="bg1">
                    <a:lumMod val="50000"/>
                  </a:schemeClr>
                </a:solidFill>
                <a:latin typeface="Arial" pitchFamily="34" charset="0"/>
                <a:ea typeface="Arial" pitchFamily="34" charset="-122"/>
                <a:cs typeface="Arial" pitchFamily="34" charset="-120"/>
              </a:rPr>
              <a:t>NONE</a:t>
            </a:r>
            <a:r>
              <a:rPr lang="en-US" sz="1100" dirty="0">
                <a:solidFill>
                  <a:schemeClr val="bg1">
                    <a:lumMod val="50000"/>
                  </a:schemeClr>
                </a:solidFill>
                <a:latin typeface="Arial" pitchFamily="34" charset="0"/>
                <a:cs typeface="Arial" pitchFamily="34" charset="-120"/>
              </a:rPr>
              <a:t>)</a:t>
            </a:r>
            <a:endParaRPr lang="en-US" sz="1100" dirty="0">
              <a:solidFill>
                <a:schemeClr val="bg1">
                  <a:lumMod val="50000"/>
                </a:schemeClr>
              </a:solidFill>
            </a:endParaRPr>
          </a:p>
        </p:txBody>
      </p:sp>
      <p:sp>
        <p:nvSpPr>
          <p:cNvPr id="6" name="Text 6">
            <a:extLst>
              <a:ext uri="{FF2B5EF4-FFF2-40B4-BE49-F238E27FC236}">
                <a16:creationId xmlns:a16="http://schemas.microsoft.com/office/drawing/2014/main" id="{BCF42FFD-4BC2-9373-B7E0-1693387B9741}"/>
              </a:ext>
            </a:extLst>
          </p:cNvPr>
          <p:cNvSpPr/>
          <p:nvPr/>
        </p:nvSpPr>
        <p:spPr>
          <a:xfrm>
            <a:off x="3431141" y="777240"/>
            <a:ext cx="1417318" cy="330454"/>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Benchmark:</a:t>
            </a:r>
            <a:br>
              <a:rPr lang="en-US" sz="1400" b="1" dirty="0">
                <a:latin typeface="Arial" pitchFamily="34" charset="0"/>
                <a:ea typeface="Arial" pitchFamily="34" charset="-122"/>
                <a:cs typeface="Arial" pitchFamily="34" charset="-120"/>
              </a:rPr>
            </a:br>
            <a:endParaRPr lang="en-US" sz="1400" b="1" dirty="0"/>
          </a:p>
        </p:txBody>
      </p:sp>
      <p:sp>
        <p:nvSpPr>
          <p:cNvPr id="7" name="Text 6">
            <a:extLst>
              <a:ext uri="{FF2B5EF4-FFF2-40B4-BE49-F238E27FC236}">
                <a16:creationId xmlns:a16="http://schemas.microsoft.com/office/drawing/2014/main" id="{952B81D3-3017-741E-7EA2-93BA8E5899E5}"/>
              </a:ext>
            </a:extLst>
          </p:cNvPr>
          <p:cNvSpPr/>
          <p:nvPr/>
        </p:nvSpPr>
        <p:spPr>
          <a:xfrm>
            <a:off x="3431141" y="3421888"/>
            <a:ext cx="1417318" cy="330454"/>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SNI:</a:t>
            </a:r>
            <a:endParaRPr lang="en-US" sz="1400" b="1" dirty="0"/>
          </a:p>
        </p:txBody>
      </p:sp>
      <p:sp>
        <p:nvSpPr>
          <p:cNvPr id="8" name="Text 6">
            <a:extLst>
              <a:ext uri="{FF2B5EF4-FFF2-40B4-BE49-F238E27FC236}">
                <a16:creationId xmlns:a16="http://schemas.microsoft.com/office/drawing/2014/main" id="{18C5081D-A549-884E-032A-D437AD2BE61A}"/>
              </a:ext>
            </a:extLst>
          </p:cNvPr>
          <p:cNvSpPr/>
          <p:nvPr/>
        </p:nvSpPr>
        <p:spPr>
          <a:xfrm>
            <a:off x="3070860" y="4315333"/>
            <a:ext cx="1777599" cy="330454"/>
          </a:xfrm>
          <a:prstGeom prst="rect">
            <a:avLst/>
          </a:prstGeom>
          <a:noFill/>
          <a:ln/>
        </p:spPr>
        <p:txBody>
          <a:bodyPr wrap="square" lIns="0" tIns="0" rIns="0" bIns="0" rtlCol="0" anchor="t"/>
          <a:lstStyle/>
          <a:p>
            <a:pPr marL="0" indent="0" algn="r">
              <a:buNone/>
            </a:pPr>
            <a:r>
              <a:rPr lang="en-US" sz="1400" b="1" dirty="0">
                <a:latin typeface="Arial" pitchFamily="34" charset="0"/>
                <a:ea typeface="Arial" pitchFamily="34" charset="-122"/>
                <a:cs typeface="Arial" pitchFamily="34" charset="-120"/>
              </a:rPr>
              <a:t>Age-depth 95% CI:</a:t>
            </a:r>
            <a:endParaRPr lang="en-US" sz="1400" b="1" dirty="0"/>
          </a:p>
        </p:txBody>
      </p:sp>
      <p:pic>
        <p:nvPicPr>
          <p:cNvPr id="10" name="Picture 9">
            <a:extLst>
              <a:ext uri="{FF2B5EF4-FFF2-40B4-BE49-F238E27FC236}">
                <a16:creationId xmlns:a16="http://schemas.microsoft.com/office/drawing/2014/main" id="{3F81F351-B7F5-BF96-A4C0-502EED284714}"/>
              </a:ext>
            </a:extLst>
          </p:cNvPr>
          <p:cNvPicPr>
            <a:picLocks noChangeAspect="1"/>
          </p:cNvPicPr>
          <p:nvPr/>
        </p:nvPicPr>
        <p:blipFill>
          <a:blip r:embed="rId3"/>
          <a:stretch>
            <a:fillRect/>
          </a:stretch>
        </p:blipFill>
        <p:spPr>
          <a:xfrm>
            <a:off x="5047783" y="0"/>
            <a:ext cx="3524717"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54864"/>
          </a:xfrm>
          <a:prstGeom prst="rect">
            <a:avLst/>
          </a:prstGeom>
          <a:solidFill>
            <a:srgbClr val="333333"/>
          </a:solidFill>
          <a:ln w="12700">
            <a:solidFill>
              <a:srgbClr val="333333"/>
            </a:solidFill>
            <a:prstDash val="solid"/>
          </a:ln>
        </p:spPr>
        <p:txBody>
          <a:bodyPr/>
          <a:lstStyle/>
          <a:p>
            <a:endParaRPr lang="en-US"/>
          </a:p>
        </p:txBody>
      </p:sp>
      <p:sp>
        <p:nvSpPr>
          <p:cNvPr id="3" name="Text 1"/>
          <p:cNvSpPr/>
          <p:nvPr/>
        </p:nvSpPr>
        <p:spPr>
          <a:xfrm>
            <a:off x="685800" y="274320"/>
            <a:ext cx="7772400" cy="1188720"/>
          </a:xfrm>
          <a:prstGeom prst="rect">
            <a:avLst/>
          </a:prstGeom>
          <a:noFill/>
          <a:ln/>
        </p:spPr>
        <p:txBody>
          <a:bodyPr wrap="square" lIns="0" tIns="0" rIns="0" bIns="0" rtlCol="0" anchor="b"/>
          <a:lstStyle/>
          <a:p>
            <a:pPr marL="0" indent="0" algn="l">
              <a:buNone/>
            </a:pPr>
            <a:r>
              <a:rPr lang="en-US" sz="3600" b="1" dirty="0">
                <a:solidFill>
                  <a:srgbClr val="000000"/>
                </a:solidFill>
                <a:latin typeface="Arial" pitchFamily="34" charset="0"/>
                <a:ea typeface="Arial" pitchFamily="34" charset="-122"/>
                <a:cs typeface="Arial" pitchFamily="34" charset="-120"/>
              </a:rPr>
              <a:t>Status &amp; next steps</a:t>
            </a:r>
            <a:endParaRPr lang="en-US" sz="3600" dirty="0"/>
          </a:p>
        </p:txBody>
      </p:sp>
      <p:sp>
        <p:nvSpPr>
          <p:cNvPr id="4" name="Text 2"/>
          <p:cNvSpPr/>
          <p:nvPr/>
        </p:nvSpPr>
        <p:spPr>
          <a:xfrm>
            <a:off x="548640" y="1874520"/>
            <a:ext cx="3840480" cy="365760"/>
          </a:xfrm>
          <a:prstGeom prst="rect">
            <a:avLst/>
          </a:prstGeom>
          <a:noFill/>
          <a:ln/>
        </p:spPr>
        <p:txBody>
          <a:bodyPr wrap="square" lIns="0" tIns="0" rIns="0" bIns="0" rtlCol="0" anchor="ctr"/>
          <a:lstStyle/>
          <a:p>
            <a:pPr marL="0" indent="0" algn="l">
              <a:buNone/>
            </a:pPr>
            <a:r>
              <a:rPr lang="en-US" sz="1500" b="1" dirty="0">
                <a:solidFill>
                  <a:srgbClr val="000000"/>
                </a:solidFill>
                <a:latin typeface="Arial" pitchFamily="34" charset="0"/>
                <a:ea typeface="Arial" pitchFamily="34" charset="-122"/>
                <a:cs typeface="Arial" pitchFamily="34" charset="-120"/>
              </a:rPr>
              <a:t>Done</a:t>
            </a:r>
            <a:endParaRPr lang="en-US" sz="1500" dirty="0"/>
          </a:p>
        </p:txBody>
      </p:sp>
      <p:sp>
        <p:nvSpPr>
          <p:cNvPr id="5" name="Text 3"/>
          <p:cNvSpPr/>
          <p:nvPr/>
        </p:nvSpPr>
        <p:spPr>
          <a:xfrm>
            <a:off x="548640" y="2286000"/>
            <a:ext cx="3931920" cy="2560320"/>
          </a:xfrm>
          <a:prstGeom prst="rect">
            <a:avLst/>
          </a:prstGeom>
          <a:noFill/>
          <a:ln/>
        </p:spPr>
        <p:txBody>
          <a:bodyPr wrap="square" lIns="0" tIns="0" rIns="0" bIns="0" rtlCol="0" anchor="t"/>
          <a:lstStyle/>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SNI &lt; 3.0 advisory in console output and added as Step 2 in recommended workflow (vignette)</a:t>
            </a:r>
            <a:endParaRPr lang="en-US" sz="1300" dirty="0"/>
          </a:p>
          <a:p>
            <a:pPr marL="342900" indent="-342900" algn="l">
              <a:buSzPct val="100000"/>
              <a:buChar char="•"/>
            </a:pPr>
            <a:endParaRPr lang="en-US" sz="1300" dirty="0">
              <a:solidFill>
                <a:srgbClr val="000000"/>
              </a:solidFill>
              <a:latin typeface="Arial" pitchFamily="34" charset="0"/>
              <a:ea typeface="Arial" pitchFamily="34" charset="-122"/>
              <a:cs typeface="Arial" pitchFamily="34" charset="-120"/>
            </a:endParaRPr>
          </a:p>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Figure reorganization: diagnostic (1–5) vs. analytical (6–9)</a:t>
            </a:r>
            <a:endParaRPr lang="en-US" sz="1300" dirty="0"/>
          </a:p>
          <a:p>
            <a:pPr marL="342900" indent="-342900" algn="l">
              <a:buSzPct val="100000"/>
              <a:buChar char="•"/>
            </a:pPr>
            <a:endParaRPr lang="en-US" sz="1300" dirty="0">
              <a:solidFill>
                <a:srgbClr val="000000"/>
              </a:solidFill>
              <a:latin typeface="Arial" pitchFamily="34" charset="0"/>
              <a:ea typeface="Arial" pitchFamily="34" charset="-122"/>
              <a:cs typeface="Arial" pitchFamily="34" charset="-120"/>
            </a:endParaRPr>
          </a:p>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Background sensitivity function added to R (</a:t>
            </a:r>
            <a:r>
              <a:rPr lang="en-US" sz="1300" dirty="0" err="1">
                <a:solidFill>
                  <a:srgbClr val="000000"/>
                </a:solidFill>
                <a:latin typeface="Arial" pitchFamily="34" charset="0"/>
                <a:ea typeface="Arial" pitchFamily="34" charset="-122"/>
                <a:cs typeface="Arial" pitchFamily="34" charset="-120"/>
              </a:rPr>
              <a:t>char_bkg_sensitivity</a:t>
            </a:r>
            <a:r>
              <a:rPr lang="en-US" sz="1300" dirty="0">
                <a:solidFill>
                  <a:srgbClr val="000000"/>
                </a:solidFill>
                <a:latin typeface="Arial" pitchFamily="34" charset="0"/>
                <a:ea typeface="Arial" pitchFamily="34" charset="-122"/>
                <a:cs typeface="Arial" pitchFamily="34" charset="-120"/>
              </a:rPr>
              <a:t>())</a:t>
            </a:r>
          </a:p>
          <a:p>
            <a:pPr marL="342900" indent="-342900" algn="l">
              <a:buSzPct val="100000"/>
              <a:buChar char="•"/>
            </a:pPr>
            <a:endParaRPr lang="en-US" sz="1300" dirty="0">
              <a:solidFill>
                <a:srgbClr val="000000"/>
              </a:solidFill>
              <a:latin typeface="Arial" pitchFamily="34" charset="0"/>
              <a:ea typeface="Arial" pitchFamily="34" charset="-122"/>
              <a:cs typeface="Arial" pitchFamily="34" charset="-120"/>
            </a:endParaRPr>
          </a:p>
          <a:p>
            <a:pPr marL="342900" indent="-342900" algn="l">
              <a:buSzPct val="100000"/>
              <a:buChar char="•"/>
            </a:pPr>
            <a:r>
              <a:rPr lang="en-US" sz="1300" dirty="0">
                <a:solidFill>
                  <a:srgbClr val="000000"/>
                </a:solidFill>
                <a:latin typeface="Arial" pitchFamily="34" charset="0"/>
                <a:cs typeface="Arial" pitchFamily="34" charset="-120"/>
              </a:rPr>
              <a:t>Chronological uncertainty working version</a:t>
            </a:r>
            <a:endParaRPr lang="en-US" sz="1300" dirty="0"/>
          </a:p>
        </p:txBody>
      </p:sp>
      <p:sp>
        <p:nvSpPr>
          <p:cNvPr id="6" name="Text 4"/>
          <p:cNvSpPr/>
          <p:nvPr/>
        </p:nvSpPr>
        <p:spPr>
          <a:xfrm>
            <a:off x="4846320" y="1874520"/>
            <a:ext cx="3840480" cy="365760"/>
          </a:xfrm>
          <a:prstGeom prst="rect">
            <a:avLst/>
          </a:prstGeom>
          <a:noFill/>
          <a:ln/>
        </p:spPr>
        <p:txBody>
          <a:bodyPr wrap="square" lIns="0" tIns="0" rIns="0" bIns="0" rtlCol="0" anchor="ctr"/>
          <a:lstStyle/>
          <a:p>
            <a:pPr marL="0" indent="0" algn="l">
              <a:buNone/>
            </a:pPr>
            <a:r>
              <a:rPr lang="en-US" sz="1500" b="1" dirty="0">
                <a:solidFill>
                  <a:srgbClr val="333333"/>
                </a:solidFill>
                <a:latin typeface="Arial" pitchFamily="34" charset="0"/>
                <a:ea typeface="Arial" pitchFamily="34" charset="-122"/>
                <a:cs typeface="Arial" pitchFamily="34" charset="-120"/>
              </a:rPr>
              <a:t>Up next</a:t>
            </a:r>
            <a:endParaRPr lang="en-US" sz="1500" dirty="0"/>
          </a:p>
        </p:txBody>
      </p:sp>
      <p:sp>
        <p:nvSpPr>
          <p:cNvPr id="7" name="Text 5"/>
          <p:cNvSpPr/>
          <p:nvPr/>
        </p:nvSpPr>
        <p:spPr>
          <a:xfrm>
            <a:off x="4846320" y="2286000"/>
            <a:ext cx="3931920" cy="2560320"/>
          </a:xfrm>
          <a:prstGeom prst="rect">
            <a:avLst/>
          </a:prstGeom>
          <a:noFill/>
          <a:ln/>
        </p:spPr>
        <p:txBody>
          <a:bodyPr wrap="square" lIns="0" tIns="0" rIns="0" bIns="0" rtlCol="0" anchor="t"/>
          <a:lstStyle/>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Package char_run_ensemble() as exported function with Roxygen docs</a:t>
            </a:r>
            <a:endParaRPr lang="en-US" sz="1300" dirty="0"/>
          </a:p>
          <a:p>
            <a:pPr marL="342900" indent="-342900" algn="l">
              <a:buSzPct val="100000"/>
              <a:buChar char="•"/>
            </a:pPr>
            <a:endParaRPr lang="en-US" sz="1300" dirty="0">
              <a:solidFill>
                <a:srgbClr val="000000"/>
              </a:solidFill>
              <a:latin typeface="Arial" pitchFamily="34" charset="0"/>
              <a:ea typeface="Arial" pitchFamily="34" charset="-122"/>
              <a:cs typeface="Arial" pitchFamily="34" charset="-120"/>
            </a:endParaRPr>
          </a:p>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Add rbacon / rplum interface</a:t>
            </a:r>
            <a:endParaRPr lang="en-US" sz="1300" dirty="0"/>
          </a:p>
          <a:p>
            <a:pPr marL="342900" indent="-342900" algn="l">
              <a:buSzPct val="100000"/>
              <a:buChar char="•"/>
            </a:pPr>
            <a:endParaRPr lang="en-US" sz="1300" dirty="0">
              <a:solidFill>
                <a:srgbClr val="000000"/>
              </a:solidFill>
              <a:latin typeface="Arial" pitchFamily="34" charset="0"/>
              <a:ea typeface="Arial" pitchFamily="34" charset="-122"/>
              <a:cs typeface="Arial" pitchFamily="34" charset="-120"/>
            </a:endParaRPr>
          </a:p>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Write chronological_uncertainty.Rmd vignette</a:t>
            </a:r>
            <a:endParaRPr lang="en-US" sz="1300" dirty="0"/>
          </a:p>
          <a:p>
            <a:pPr marL="342900" indent="-342900" algn="l">
              <a:buSzPct val="100000"/>
              <a:buChar char="•"/>
            </a:pPr>
            <a:endParaRPr lang="en-US" sz="1300" dirty="0">
              <a:solidFill>
                <a:srgbClr val="000000"/>
              </a:solidFill>
              <a:latin typeface="Arial" pitchFamily="34" charset="0"/>
              <a:ea typeface="Arial" pitchFamily="34" charset="-122"/>
              <a:cs typeface="Arial" pitchFamily="34" charset="-120"/>
            </a:endParaRPr>
          </a:p>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Apply ensemble to additional sites beyond CH10 and SI17</a:t>
            </a:r>
          </a:p>
          <a:p>
            <a:pPr marL="342900" indent="-342900" algn="l">
              <a:buSzPct val="100000"/>
              <a:buChar char="•"/>
            </a:pPr>
            <a:endParaRPr lang="en-US" sz="1300" dirty="0">
              <a:solidFill>
                <a:srgbClr val="000000"/>
              </a:solidFill>
              <a:latin typeface="Arial" pitchFamily="34" charset="0"/>
              <a:ea typeface="Arial" pitchFamily="34" charset="-122"/>
              <a:cs typeface="Arial" pitchFamily="34" charset="-120"/>
            </a:endParaRPr>
          </a:p>
          <a:p>
            <a:pPr marL="342900" indent="-342900" algn="l">
              <a:buSzPct val="100000"/>
              <a:buChar char="•"/>
            </a:pPr>
            <a:r>
              <a:rPr lang="en-US" sz="1300" dirty="0">
                <a:solidFill>
                  <a:srgbClr val="000000"/>
                </a:solidFill>
                <a:latin typeface="Arial" pitchFamily="34" charset="0"/>
                <a:ea typeface="Arial" pitchFamily="34" charset="-122"/>
                <a:cs typeface="Arial" pitchFamily="34" charset="-120"/>
              </a:rPr>
              <a:t>Package dev work as v2.0.4 (SNI advisory, figure reorganization, age-uncertainty function)</a:t>
            </a:r>
          </a:p>
          <a:p>
            <a:pPr marL="342900" indent="-342900" algn="l">
              <a:buSzPct val="100000"/>
              <a:buChar char="•"/>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1859</Words>
  <Application>Microsoft Office PowerPoint</Application>
  <PresentationFormat>On-screen Show (16:9)</PresentationFormat>
  <Paragraphs>207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Cascadia Code</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CharAnalysis 2.0 — Monthly Update</dc:title>
  <dc:subject>PptxGenJS Presentation</dc:subject>
  <dc:creator>Philip Higuera</dc:creator>
  <cp:lastModifiedBy>Higuera, Philip</cp:lastModifiedBy>
  <cp:revision>1</cp:revision>
  <dcterms:created xsi:type="dcterms:W3CDTF">2026-06-24T20:37:56Z</dcterms:created>
  <dcterms:modified xsi:type="dcterms:W3CDTF">2026-06-25T03:36:38Z</dcterms:modified>
</cp:coreProperties>
</file>